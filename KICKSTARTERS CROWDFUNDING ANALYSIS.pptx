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9" r:id="rId3"/>
    <p:sldId id="257" r:id="rId4"/>
    <p:sldId id="264" r:id="rId5"/>
    <p:sldId id="265" r:id="rId6"/>
    <p:sldId id="267" r:id="rId7"/>
    <p:sldId id="261" r:id="rId8"/>
    <p:sldId id="262" r:id="rId9"/>
    <p:sldId id="272" r:id="rId10"/>
    <p:sldId id="266" r:id="rId11"/>
  </p:sldIdLst>
  <p:sldSz cx="18288000" cy="10287000"/>
  <p:notesSz cx="6858000" cy="9144000"/>
  <p:embeddedFontLst>
    <p:embeddedFont>
      <p:font typeface="Algerian" panose="04020705040A02060702" pitchFamily="82" charset="0"/>
      <p:regular r:id="rId12"/>
    </p:embeddedFont>
    <p:embeddedFont>
      <p:font typeface="Aptos Narrow" panose="020B0004020202020204" pitchFamily="34" charset="0"/>
      <p:regular r:id="rId13"/>
      <p:bold r:id="rId14"/>
      <p:italic r:id="rId15"/>
      <p:boldItalic r:id="rId16"/>
    </p:embeddedFont>
    <p:embeddedFont>
      <p:font typeface="Arial Rounded MT Bold" panose="020F0704030504030204" pitchFamily="3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78" y="1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9ECCA9-E6C5-40B4-A289-4B41BCB1CC19}"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B9624C83-A546-422B-93FC-A1D173E38526}">
      <dgm:prSet/>
      <dgm:spPr/>
      <dgm:t>
        <a:bodyPr/>
        <a:lstStyle/>
        <a:p>
          <a:r>
            <a:rPr lang="en-US" b="1"/>
            <a:t>Maximize Campaign Success Rate:</a:t>
          </a:r>
          <a:endParaRPr lang="en-IN"/>
        </a:p>
      </dgm:t>
    </dgm:pt>
    <dgm:pt modelId="{F9EDA4F6-BE7D-4E20-91F9-64776FAA389A}" type="parTrans" cxnId="{0335D33B-80AE-4DE9-ACBA-71547D62D85E}">
      <dgm:prSet/>
      <dgm:spPr/>
      <dgm:t>
        <a:bodyPr/>
        <a:lstStyle/>
        <a:p>
          <a:endParaRPr lang="en-IN"/>
        </a:p>
      </dgm:t>
    </dgm:pt>
    <dgm:pt modelId="{D6D5D2DE-782D-492A-85C0-9AD8D64D39C3}" type="sibTrans" cxnId="{0335D33B-80AE-4DE9-ACBA-71547D62D85E}">
      <dgm:prSet/>
      <dgm:spPr/>
      <dgm:t>
        <a:bodyPr/>
        <a:lstStyle/>
        <a:p>
          <a:endParaRPr lang="en-IN"/>
        </a:p>
      </dgm:t>
    </dgm:pt>
    <dgm:pt modelId="{ADBD375A-49A4-4D25-8695-7F3D3A553ABA}">
      <dgm:prSet/>
      <dgm:spPr/>
      <dgm:t>
        <a:bodyPr/>
        <a:lstStyle/>
        <a:p>
          <a:r>
            <a:rPr lang="en-US" b="1" dirty="0"/>
            <a:t>Focusing on high-performing categories</a:t>
          </a:r>
          <a:endParaRPr lang="en-IN" b="1" dirty="0"/>
        </a:p>
      </dgm:t>
    </dgm:pt>
    <dgm:pt modelId="{6F9BFC50-5E59-4F3E-A616-BC2746DE7900}" type="parTrans" cxnId="{ADE1156B-E309-422D-A332-345E62AF9414}">
      <dgm:prSet/>
      <dgm:spPr/>
      <dgm:t>
        <a:bodyPr/>
        <a:lstStyle/>
        <a:p>
          <a:endParaRPr lang="en-IN"/>
        </a:p>
      </dgm:t>
    </dgm:pt>
    <dgm:pt modelId="{613388D0-7367-4805-A14F-CA4F247894CD}" type="sibTrans" cxnId="{ADE1156B-E309-422D-A332-345E62AF9414}">
      <dgm:prSet/>
      <dgm:spPr/>
      <dgm:t>
        <a:bodyPr/>
        <a:lstStyle/>
        <a:p>
          <a:endParaRPr lang="en-IN"/>
        </a:p>
      </dgm:t>
    </dgm:pt>
    <dgm:pt modelId="{443648F8-4A81-4058-A8BB-10B1A87B4384}">
      <dgm:prSet/>
      <dgm:spPr/>
      <dgm:t>
        <a:bodyPr/>
        <a:lstStyle/>
        <a:p>
          <a:r>
            <a:rPr lang="en-US" b="1" dirty="0"/>
            <a:t>launching campaigns in categories with historically higher success rates</a:t>
          </a:r>
          <a:endParaRPr lang="en-IN" b="1" dirty="0"/>
        </a:p>
      </dgm:t>
    </dgm:pt>
    <dgm:pt modelId="{CB9D74DF-9139-432A-82A0-D6BEE5531D49}" type="parTrans" cxnId="{1D048FE9-AD93-4374-AB3C-3934BB0CA45D}">
      <dgm:prSet/>
      <dgm:spPr/>
      <dgm:t>
        <a:bodyPr/>
        <a:lstStyle/>
        <a:p>
          <a:endParaRPr lang="en-IN"/>
        </a:p>
      </dgm:t>
    </dgm:pt>
    <dgm:pt modelId="{016155C4-DD56-4261-94F7-05E299B410F7}" type="sibTrans" cxnId="{1D048FE9-AD93-4374-AB3C-3934BB0CA45D}">
      <dgm:prSet/>
      <dgm:spPr/>
      <dgm:t>
        <a:bodyPr/>
        <a:lstStyle/>
        <a:p>
          <a:endParaRPr lang="en-IN"/>
        </a:p>
      </dgm:t>
    </dgm:pt>
    <dgm:pt modelId="{CC4045EA-940A-49F5-AA15-BB76C7C74161}">
      <dgm:prSet/>
      <dgm:spPr/>
      <dgm:t>
        <a:bodyPr/>
        <a:lstStyle/>
        <a:p>
          <a:r>
            <a:rPr lang="en-US" b="1" dirty="0"/>
            <a:t>Set Optimal Funding Goals</a:t>
          </a:r>
          <a:endParaRPr lang="en-IN" dirty="0"/>
        </a:p>
      </dgm:t>
    </dgm:pt>
    <dgm:pt modelId="{46CC21C6-C269-4380-A17D-55A6B5984622}" type="parTrans" cxnId="{89C9E44B-349A-4227-930D-0B6A18BA3243}">
      <dgm:prSet/>
      <dgm:spPr/>
      <dgm:t>
        <a:bodyPr/>
        <a:lstStyle/>
        <a:p>
          <a:endParaRPr lang="en-IN"/>
        </a:p>
      </dgm:t>
    </dgm:pt>
    <dgm:pt modelId="{B1D1B1AF-6FCB-4E1E-8D1D-CA70EBFFB323}" type="sibTrans" cxnId="{89C9E44B-349A-4227-930D-0B6A18BA3243}">
      <dgm:prSet/>
      <dgm:spPr/>
      <dgm:t>
        <a:bodyPr/>
        <a:lstStyle/>
        <a:p>
          <a:endParaRPr lang="en-IN"/>
        </a:p>
      </dgm:t>
    </dgm:pt>
    <dgm:pt modelId="{94CE3263-65A1-4B33-A4BB-462DDC058568}">
      <dgm:prSet/>
      <dgm:spPr/>
      <dgm:t>
        <a:bodyPr/>
        <a:lstStyle/>
        <a:p>
          <a:r>
            <a:rPr lang="en-US" dirty="0"/>
            <a:t> </a:t>
          </a:r>
          <a:r>
            <a:rPr lang="en-US" b="1" dirty="0"/>
            <a:t>goal-range analysis to set realistic funding targets</a:t>
          </a:r>
          <a:endParaRPr lang="en-IN" b="1" dirty="0"/>
        </a:p>
      </dgm:t>
    </dgm:pt>
    <dgm:pt modelId="{7BD450BC-6E7E-46AA-9D84-B1683B9D1907}" type="parTrans" cxnId="{6152E680-DB18-4EC3-AEB9-485E104D5B5A}">
      <dgm:prSet/>
      <dgm:spPr/>
      <dgm:t>
        <a:bodyPr/>
        <a:lstStyle/>
        <a:p>
          <a:endParaRPr lang="en-IN"/>
        </a:p>
      </dgm:t>
    </dgm:pt>
    <dgm:pt modelId="{E291B92C-4844-4C26-8028-4B636E83E605}" type="sibTrans" cxnId="{6152E680-DB18-4EC3-AEB9-485E104D5B5A}">
      <dgm:prSet/>
      <dgm:spPr/>
      <dgm:t>
        <a:bodyPr/>
        <a:lstStyle/>
        <a:p>
          <a:endParaRPr lang="en-IN"/>
        </a:p>
      </dgm:t>
    </dgm:pt>
    <dgm:pt modelId="{5398498E-8C31-4320-AF21-A42B1C6BE80A}">
      <dgm:prSet/>
      <dgm:spPr/>
      <dgm:t>
        <a:bodyPr/>
        <a:lstStyle/>
        <a:p>
          <a:r>
            <a:rPr lang="en-US" b="1" dirty="0"/>
            <a:t>Avoid extremely high or low goals to improve backer engagement</a:t>
          </a:r>
          <a:endParaRPr lang="en-IN" b="1" dirty="0"/>
        </a:p>
      </dgm:t>
    </dgm:pt>
    <dgm:pt modelId="{88EE8611-2004-422E-804B-DA26A5F9F80E}" type="parTrans" cxnId="{DBE2EB3C-7136-487A-85B1-BB6503133DFB}">
      <dgm:prSet/>
      <dgm:spPr/>
      <dgm:t>
        <a:bodyPr/>
        <a:lstStyle/>
        <a:p>
          <a:endParaRPr lang="en-IN"/>
        </a:p>
      </dgm:t>
    </dgm:pt>
    <dgm:pt modelId="{46436C2E-DBF6-407F-A5D1-F94DE8561707}" type="sibTrans" cxnId="{DBE2EB3C-7136-487A-85B1-BB6503133DFB}">
      <dgm:prSet/>
      <dgm:spPr/>
      <dgm:t>
        <a:bodyPr/>
        <a:lstStyle/>
        <a:p>
          <a:endParaRPr lang="en-IN"/>
        </a:p>
      </dgm:t>
    </dgm:pt>
    <dgm:pt modelId="{B474AAF7-2AD1-4C92-BAA0-E25B087EC3D0}">
      <dgm:prSet/>
      <dgm:spPr/>
      <dgm:t>
        <a:bodyPr/>
        <a:lstStyle/>
        <a:p>
          <a:r>
            <a:rPr lang="en-US" b="1" dirty="0"/>
            <a:t>Time Campaign Launch Strategically</a:t>
          </a:r>
          <a:endParaRPr lang="en-IN" dirty="0"/>
        </a:p>
      </dgm:t>
    </dgm:pt>
    <dgm:pt modelId="{04D4CC36-536F-40C5-B4D7-9A32034C5415}" type="parTrans" cxnId="{57CF98E2-80C5-47C8-8CE9-B724532EA4F1}">
      <dgm:prSet/>
      <dgm:spPr/>
      <dgm:t>
        <a:bodyPr/>
        <a:lstStyle/>
        <a:p>
          <a:endParaRPr lang="en-IN"/>
        </a:p>
      </dgm:t>
    </dgm:pt>
    <dgm:pt modelId="{53EE9B89-7725-499E-A006-0C5B59339471}" type="sibTrans" cxnId="{57CF98E2-80C5-47C8-8CE9-B724532EA4F1}">
      <dgm:prSet/>
      <dgm:spPr/>
      <dgm:t>
        <a:bodyPr/>
        <a:lstStyle/>
        <a:p>
          <a:endParaRPr lang="en-IN"/>
        </a:p>
      </dgm:t>
    </dgm:pt>
    <dgm:pt modelId="{18237065-F27C-460C-930F-A6A9155BF76C}">
      <dgm:prSet/>
      <dgm:spPr/>
    </dgm:pt>
    <dgm:pt modelId="{5559DFC2-AFAC-4645-8A8F-1DD39A1D6254}" type="parTrans" cxnId="{249F98C2-E0CC-423B-BF4E-99307F3917A7}">
      <dgm:prSet/>
      <dgm:spPr/>
      <dgm:t>
        <a:bodyPr/>
        <a:lstStyle/>
        <a:p>
          <a:endParaRPr lang="en-IN"/>
        </a:p>
      </dgm:t>
    </dgm:pt>
    <dgm:pt modelId="{94907A2F-66D4-4660-8491-F51DEC589367}" type="sibTrans" cxnId="{249F98C2-E0CC-423B-BF4E-99307F3917A7}">
      <dgm:prSet/>
      <dgm:spPr/>
      <dgm:t>
        <a:bodyPr/>
        <a:lstStyle/>
        <a:p>
          <a:endParaRPr lang="en-IN"/>
        </a:p>
      </dgm:t>
    </dgm:pt>
    <dgm:pt modelId="{AADFF897-922B-4B11-9D78-52204A23ACE6}">
      <dgm:prSet/>
      <dgm:spPr/>
    </dgm:pt>
    <dgm:pt modelId="{0A9BE0CD-713B-4289-ABA2-F0A653063F2F}" type="parTrans" cxnId="{04E683FF-4FA7-4BF2-A0C9-A4D71F28AC6C}">
      <dgm:prSet/>
      <dgm:spPr/>
      <dgm:t>
        <a:bodyPr/>
        <a:lstStyle/>
        <a:p>
          <a:endParaRPr lang="en-IN"/>
        </a:p>
      </dgm:t>
    </dgm:pt>
    <dgm:pt modelId="{D44CAC6F-816B-4F18-B9E8-848377344C39}" type="sibTrans" cxnId="{04E683FF-4FA7-4BF2-A0C9-A4D71F28AC6C}">
      <dgm:prSet/>
      <dgm:spPr/>
      <dgm:t>
        <a:bodyPr/>
        <a:lstStyle/>
        <a:p>
          <a:endParaRPr lang="en-IN"/>
        </a:p>
      </dgm:t>
    </dgm:pt>
    <dgm:pt modelId="{396E11DD-2D9E-4E87-A759-1AA1CD83FFD6}">
      <dgm:prSet/>
      <dgm:spPr/>
    </dgm:pt>
    <dgm:pt modelId="{38E0B5FF-0CEC-4721-AFCF-8F51C14D7D69}" type="parTrans" cxnId="{ACDB5D93-39F4-4B83-A69A-F90FADCB6998}">
      <dgm:prSet/>
      <dgm:spPr/>
      <dgm:t>
        <a:bodyPr/>
        <a:lstStyle/>
        <a:p>
          <a:endParaRPr lang="en-IN"/>
        </a:p>
      </dgm:t>
    </dgm:pt>
    <dgm:pt modelId="{73D0BC4F-5C28-47DF-997D-CF259B8490BB}" type="sibTrans" cxnId="{ACDB5D93-39F4-4B83-A69A-F90FADCB6998}">
      <dgm:prSet/>
      <dgm:spPr/>
      <dgm:t>
        <a:bodyPr/>
        <a:lstStyle/>
        <a:p>
          <a:endParaRPr lang="en-IN"/>
        </a:p>
      </dgm:t>
    </dgm:pt>
    <dgm:pt modelId="{5EA1E1DB-1C38-4B8E-AEAC-8C71A837F182}">
      <dgm:prSet/>
      <dgm:spPr/>
    </dgm:pt>
    <dgm:pt modelId="{3AA7E3BA-3D3F-46A5-8AEF-CF2CFE23BA6D}" type="parTrans" cxnId="{EF263E9B-6E7E-4B08-8CD2-65812F57EE93}">
      <dgm:prSet/>
      <dgm:spPr/>
      <dgm:t>
        <a:bodyPr/>
        <a:lstStyle/>
        <a:p>
          <a:endParaRPr lang="en-IN"/>
        </a:p>
      </dgm:t>
    </dgm:pt>
    <dgm:pt modelId="{E2BD0D58-1E60-470B-967D-C054CAD092C4}" type="sibTrans" cxnId="{EF263E9B-6E7E-4B08-8CD2-65812F57EE93}">
      <dgm:prSet/>
      <dgm:spPr/>
      <dgm:t>
        <a:bodyPr/>
        <a:lstStyle/>
        <a:p>
          <a:endParaRPr lang="en-IN"/>
        </a:p>
      </dgm:t>
    </dgm:pt>
    <dgm:pt modelId="{2FBC4D07-088C-4AB1-B5CA-7166C525AD09}">
      <dgm:prSet/>
      <dgm:spPr/>
    </dgm:pt>
    <dgm:pt modelId="{BA6F2259-CF86-4265-A4E6-C03CC6F183B5}" type="parTrans" cxnId="{80B68B49-07B3-43F8-8174-647A5EED51EF}">
      <dgm:prSet/>
      <dgm:spPr/>
      <dgm:t>
        <a:bodyPr/>
        <a:lstStyle/>
        <a:p>
          <a:endParaRPr lang="en-IN"/>
        </a:p>
      </dgm:t>
    </dgm:pt>
    <dgm:pt modelId="{DFE7379B-84D8-4B19-B4F9-512576C55EE8}" type="sibTrans" cxnId="{80B68B49-07B3-43F8-8174-647A5EED51EF}">
      <dgm:prSet/>
      <dgm:spPr/>
      <dgm:t>
        <a:bodyPr/>
        <a:lstStyle/>
        <a:p>
          <a:endParaRPr lang="en-IN"/>
        </a:p>
      </dgm:t>
    </dgm:pt>
    <dgm:pt modelId="{12BE01FC-3958-4CAA-A4DB-37563886D26F}">
      <dgm:prSet/>
      <dgm:spPr/>
    </dgm:pt>
    <dgm:pt modelId="{4834B2C9-04AB-4A8C-94C6-C4A69FC46121}" type="parTrans" cxnId="{E9A94EDA-1154-48DA-866B-ABB33DA33F7A}">
      <dgm:prSet/>
      <dgm:spPr/>
      <dgm:t>
        <a:bodyPr/>
        <a:lstStyle/>
        <a:p>
          <a:endParaRPr lang="en-IN"/>
        </a:p>
      </dgm:t>
    </dgm:pt>
    <dgm:pt modelId="{CAF0FB33-26A9-4F1E-9130-5E269384A70F}" type="sibTrans" cxnId="{E9A94EDA-1154-48DA-866B-ABB33DA33F7A}">
      <dgm:prSet/>
      <dgm:spPr/>
      <dgm:t>
        <a:bodyPr/>
        <a:lstStyle/>
        <a:p>
          <a:endParaRPr lang="en-IN"/>
        </a:p>
      </dgm:t>
    </dgm:pt>
    <dgm:pt modelId="{FE015F8B-7234-46BB-866F-82735466E707}">
      <dgm:prSet/>
      <dgm:spPr/>
    </dgm:pt>
    <dgm:pt modelId="{60B04328-24BF-4BED-A476-1852582196C8}" type="parTrans" cxnId="{5097F869-3F3D-422F-9F93-DA702DE009AA}">
      <dgm:prSet/>
      <dgm:spPr/>
      <dgm:t>
        <a:bodyPr/>
        <a:lstStyle/>
        <a:p>
          <a:endParaRPr lang="en-IN"/>
        </a:p>
      </dgm:t>
    </dgm:pt>
    <dgm:pt modelId="{14A39DB8-CB69-4038-B17A-4BFA79A4D0C8}" type="sibTrans" cxnId="{5097F869-3F3D-422F-9F93-DA702DE009AA}">
      <dgm:prSet/>
      <dgm:spPr/>
      <dgm:t>
        <a:bodyPr/>
        <a:lstStyle/>
        <a:p>
          <a:endParaRPr lang="en-IN"/>
        </a:p>
      </dgm:t>
    </dgm:pt>
    <dgm:pt modelId="{6A7AE2A8-6930-441D-B843-630EBCE84DEA}">
      <dgm:prSet/>
      <dgm:spPr/>
    </dgm:pt>
    <dgm:pt modelId="{C4A6536C-DEDC-4CDC-A6A7-EC079E6D975A}" type="parTrans" cxnId="{B1E1B391-70D6-4FB7-A328-422B1D2DA30E}">
      <dgm:prSet/>
      <dgm:spPr/>
      <dgm:t>
        <a:bodyPr/>
        <a:lstStyle/>
        <a:p>
          <a:endParaRPr lang="en-IN"/>
        </a:p>
      </dgm:t>
    </dgm:pt>
    <dgm:pt modelId="{6E6B89D0-2709-4E05-AA2F-A8E9573E3C31}" type="sibTrans" cxnId="{B1E1B391-70D6-4FB7-A328-422B1D2DA30E}">
      <dgm:prSet/>
      <dgm:spPr/>
      <dgm:t>
        <a:bodyPr/>
        <a:lstStyle/>
        <a:p>
          <a:endParaRPr lang="en-IN"/>
        </a:p>
      </dgm:t>
    </dgm:pt>
    <dgm:pt modelId="{B14B0D5D-1A18-4395-A275-766579AD8B88}" type="pres">
      <dgm:prSet presAssocID="{DD9ECCA9-E6C5-40B4-A289-4B41BCB1CC19}" presName="compositeShape" presStyleCnt="0">
        <dgm:presLayoutVars>
          <dgm:chMax val="7"/>
          <dgm:dir/>
          <dgm:resizeHandles val="exact"/>
        </dgm:presLayoutVars>
      </dgm:prSet>
      <dgm:spPr/>
    </dgm:pt>
    <dgm:pt modelId="{1D4B3E95-E4C2-453C-8763-2953B4532A28}" type="pres">
      <dgm:prSet presAssocID="{B9624C83-A546-422B-93FC-A1D173E38526}" presName="circ1" presStyleLbl="vennNode1" presStyleIdx="0" presStyleCnt="7"/>
      <dgm:spPr/>
    </dgm:pt>
    <dgm:pt modelId="{48C3DA68-3C4F-45E7-8374-1733AEE28A64}" type="pres">
      <dgm:prSet presAssocID="{B9624C83-A546-422B-93FC-A1D173E38526}" presName="circ1Tx" presStyleLbl="revTx" presStyleIdx="0" presStyleCnt="0">
        <dgm:presLayoutVars>
          <dgm:chMax val="0"/>
          <dgm:chPref val="0"/>
          <dgm:bulletEnabled val="1"/>
        </dgm:presLayoutVars>
      </dgm:prSet>
      <dgm:spPr/>
    </dgm:pt>
    <dgm:pt modelId="{909453DD-7193-4C72-913B-35710FB77B56}" type="pres">
      <dgm:prSet presAssocID="{ADBD375A-49A4-4D25-8695-7F3D3A553ABA}" presName="circ2" presStyleLbl="vennNode1" presStyleIdx="1" presStyleCnt="7"/>
      <dgm:spPr/>
    </dgm:pt>
    <dgm:pt modelId="{2FEAB27A-FD03-4D15-A73A-AC2B58D31725}" type="pres">
      <dgm:prSet presAssocID="{ADBD375A-49A4-4D25-8695-7F3D3A553ABA}" presName="circ2Tx" presStyleLbl="revTx" presStyleIdx="0" presStyleCnt="0">
        <dgm:presLayoutVars>
          <dgm:chMax val="0"/>
          <dgm:chPref val="0"/>
          <dgm:bulletEnabled val="1"/>
        </dgm:presLayoutVars>
      </dgm:prSet>
      <dgm:spPr/>
    </dgm:pt>
    <dgm:pt modelId="{11A4D54D-80F6-44E6-8838-92AAC93CF837}" type="pres">
      <dgm:prSet presAssocID="{443648F8-4A81-4058-A8BB-10B1A87B4384}" presName="circ3" presStyleLbl="vennNode1" presStyleIdx="2" presStyleCnt="7"/>
      <dgm:spPr/>
    </dgm:pt>
    <dgm:pt modelId="{009012E1-1388-4749-9F06-3E05CE391183}" type="pres">
      <dgm:prSet presAssocID="{443648F8-4A81-4058-A8BB-10B1A87B4384}" presName="circ3Tx" presStyleLbl="revTx" presStyleIdx="0" presStyleCnt="0">
        <dgm:presLayoutVars>
          <dgm:chMax val="0"/>
          <dgm:chPref val="0"/>
          <dgm:bulletEnabled val="1"/>
        </dgm:presLayoutVars>
      </dgm:prSet>
      <dgm:spPr/>
    </dgm:pt>
    <dgm:pt modelId="{9AEA7B49-D230-4F05-839B-1F4DB51B91C5}" type="pres">
      <dgm:prSet presAssocID="{CC4045EA-940A-49F5-AA15-BB76C7C74161}" presName="circ4" presStyleLbl="vennNode1" presStyleIdx="3" presStyleCnt="7"/>
      <dgm:spPr/>
    </dgm:pt>
    <dgm:pt modelId="{DC98A215-184C-4447-BFE8-02FC46877367}" type="pres">
      <dgm:prSet presAssocID="{CC4045EA-940A-49F5-AA15-BB76C7C74161}" presName="circ4Tx" presStyleLbl="revTx" presStyleIdx="0" presStyleCnt="0">
        <dgm:presLayoutVars>
          <dgm:chMax val="0"/>
          <dgm:chPref val="0"/>
          <dgm:bulletEnabled val="1"/>
        </dgm:presLayoutVars>
      </dgm:prSet>
      <dgm:spPr/>
    </dgm:pt>
    <dgm:pt modelId="{9227B616-05EB-4DF6-96AA-7BA12EDE31CB}" type="pres">
      <dgm:prSet presAssocID="{94CE3263-65A1-4B33-A4BB-462DDC058568}" presName="circ5" presStyleLbl="vennNode1" presStyleIdx="4" presStyleCnt="7"/>
      <dgm:spPr/>
    </dgm:pt>
    <dgm:pt modelId="{00240F1F-FE45-43F3-8351-C35A9A198228}" type="pres">
      <dgm:prSet presAssocID="{94CE3263-65A1-4B33-A4BB-462DDC058568}" presName="circ5Tx" presStyleLbl="revTx" presStyleIdx="0" presStyleCnt="0">
        <dgm:presLayoutVars>
          <dgm:chMax val="0"/>
          <dgm:chPref val="0"/>
          <dgm:bulletEnabled val="1"/>
        </dgm:presLayoutVars>
      </dgm:prSet>
      <dgm:spPr/>
    </dgm:pt>
    <dgm:pt modelId="{4ECBDB70-4657-4948-81B3-489A4896C179}" type="pres">
      <dgm:prSet presAssocID="{5398498E-8C31-4320-AF21-A42B1C6BE80A}" presName="circ6" presStyleLbl="vennNode1" presStyleIdx="5" presStyleCnt="7"/>
      <dgm:spPr/>
    </dgm:pt>
    <dgm:pt modelId="{1A786C29-B45C-4CD2-A270-261C80120439}" type="pres">
      <dgm:prSet presAssocID="{5398498E-8C31-4320-AF21-A42B1C6BE80A}" presName="circ6Tx" presStyleLbl="revTx" presStyleIdx="0" presStyleCnt="0">
        <dgm:presLayoutVars>
          <dgm:chMax val="0"/>
          <dgm:chPref val="0"/>
          <dgm:bulletEnabled val="1"/>
        </dgm:presLayoutVars>
      </dgm:prSet>
      <dgm:spPr/>
    </dgm:pt>
    <dgm:pt modelId="{6A87D528-D40A-48FF-A1C7-6DFFD3749685}" type="pres">
      <dgm:prSet presAssocID="{B474AAF7-2AD1-4C92-BAA0-E25B087EC3D0}" presName="circ7" presStyleLbl="vennNode1" presStyleIdx="6" presStyleCnt="7"/>
      <dgm:spPr/>
    </dgm:pt>
    <dgm:pt modelId="{3FF210A3-71D4-4DAE-8398-2CB3D318CE08}" type="pres">
      <dgm:prSet presAssocID="{B474AAF7-2AD1-4C92-BAA0-E25B087EC3D0}" presName="circ7Tx" presStyleLbl="revTx" presStyleIdx="0" presStyleCnt="0">
        <dgm:presLayoutVars>
          <dgm:chMax val="0"/>
          <dgm:chPref val="0"/>
          <dgm:bulletEnabled val="1"/>
        </dgm:presLayoutVars>
      </dgm:prSet>
      <dgm:spPr/>
    </dgm:pt>
  </dgm:ptLst>
  <dgm:cxnLst>
    <dgm:cxn modelId="{4CB3320C-5D88-4633-834D-BED489573A53}" type="presOf" srcId="{B9624C83-A546-422B-93FC-A1D173E38526}" destId="{48C3DA68-3C4F-45E7-8374-1733AEE28A64}" srcOrd="0" destOrd="0" presId="urn:microsoft.com/office/officeart/2005/8/layout/venn1"/>
    <dgm:cxn modelId="{EA38A60C-E813-48E5-A30A-BB71AD286B54}" type="presOf" srcId="{5398498E-8C31-4320-AF21-A42B1C6BE80A}" destId="{1A786C29-B45C-4CD2-A270-261C80120439}" srcOrd="0" destOrd="0" presId="urn:microsoft.com/office/officeart/2005/8/layout/venn1"/>
    <dgm:cxn modelId="{359F2111-42EB-4825-8E22-44F20AF09ABF}" type="presOf" srcId="{94CE3263-65A1-4B33-A4BB-462DDC058568}" destId="{00240F1F-FE45-43F3-8351-C35A9A198228}" srcOrd="0" destOrd="0" presId="urn:microsoft.com/office/officeart/2005/8/layout/venn1"/>
    <dgm:cxn modelId="{970EDD2C-C0B2-4946-9A49-4DD7DFC1D877}" type="presOf" srcId="{ADBD375A-49A4-4D25-8695-7F3D3A553ABA}" destId="{2FEAB27A-FD03-4D15-A73A-AC2B58D31725}" srcOrd="0" destOrd="0" presId="urn:microsoft.com/office/officeart/2005/8/layout/venn1"/>
    <dgm:cxn modelId="{0335D33B-80AE-4DE9-ACBA-71547D62D85E}" srcId="{DD9ECCA9-E6C5-40B4-A289-4B41BCB1CC19}" destId="{B9624C83-A546-422B-93FC-A1D173E38526}" srcOrd="0" destOrd="0" parTransId="{F9EDA4F6-BE7D-4E20-91F9-64776FAA389A}" sibTransId="{D6D5D2DE-782D-492A-85C0-9AD8D64D39C3}"/>
    <dgm:cxn modelId="{DBE2EB3C-7136-487A-85B1-BB6503133DFB}" srcId="{DD9ECCA9-E6C5-40B4-A289-4B41BCB1CC19}" destId="{5398498E-8C31-4320-AF21-A42B1C6BE80A}" srcOrd="5" destOrd="0" parTransId="{88EE8611-2004-422E-804B-DA26A5F9F80E}" sibTransId="{46436C2E-DBF6-407F-A5D1-F94DE8561707}"/>
    <dgm:cxn modelId="{80B68B49-07B3-43F8-8174-647A5EED51EF}" srcId="{DD9ECCA9-E6C5-40B4-A289-4B41BCB1CC19}" destId="{2FBC4D07-088C-4AB1-B5CA-7166C525AD09}" srcOrd="11" destOrd="0" parTransId="{BA6F2259-CF86-4265-A4E6-C03CC6F183B5}" sibTransId="{DFE7379B-84D8-4B19-B4F9-512576C55EE8}"/>
    <dgm:cxn modelId="{5097F869-3F3D-422F-9F93-DA702DE009AA}" srcId="{DD9ECCA9-E6C5-40B4-A289-4B41BCB1CC19}" destId="{FE015F8B-7234-46BB-866F-82735466E707}" srcOrd="13" destOrd="0" parTransId="{60B04328-24BF-4BED-A476-1852582196C8}" sibTransId="{14A39DB8-CB69-4038-B17A-4BFA79A4D0C8}"/>
    <dgm:cxn modelId="{ADE1156B-E309-422D-A332-345E62AF9414}" srcId="{DD9ECCA9-E6C5-40B4-A289-4B41BCB1CC19}" destId="{ADBD375A-49A4-4D25-8695-7F3D3A553ABA}" srcOrd="1" destOrd="0" parTransId="{6F9BFC50-5E59-4F3E-A616-BC2746DE7900}" sibTransId="{613388D0-7367-4805-A14F-CA4F247894CD}"/>
    <dgm:cxn modelId="{89C9E44B-349A-4227-930D-0B6A18BA3243}" srcId="{DD9ECCA9-E6C5-40B4-A289-4B41BCB1CC19}" destId="{CC4045EA-940A-49F5-AA15-BB76C7C74161}" srcOrd="3" destOrd="0" parTransId="{46CC21C6-C269-4380-A17D-55A6B5984622}" sibTransId="{B1D1B1AF-6FCB-4E1E-8D1D-CA70EBFFB323}"/>
    <dgm:cxn modelId="{6152E680-DB18-4EC3-AEB9-485E104D5B5A}" srcId="{DD9ECCA9-E6C5-40B4-A289-4B41BCB1CC19}" destId="{94CE3263-65A1-4B33-A4BB-462DDC058568}" srcOrd="4" destOrd="0" parTransId="{7BD450BC-6E7E-46AA-9D84-B1683B9D1907}" sibTransId="{E291B92C-4844-4C26-8028-4B636E83E605}"/>
    <dgm:cxn modelId="{B1E1B391-70D6-4FB7-A328-422B1D2DA30E}" srcId="{DD9ECCA9-E6C5-40B4-A289-4B41BCB1CC19}" destId="{6A7AE2A8-6930-441D-B843-630EBCE84DEA}" srcOrd="14" destOrd="0" parTransId="{C4A6536C-DEDC-4CDC-A6A7-EC079E6D975A}" sibTransId="{6E6B89D0-2709-4E05-AA2F-A8E9573E3C31}"/>
    <dgm:cxn modelId="{ACDB5D93-39F4-4B83-A69A-F90FADCB6998}" srcId="{DD9ECCA9-E6C5-40B4-A289-4B41BCB1CC19}" destId="{396E11DD-2D9E-4E87-A759-1AA1CD83FFD6}" srcOrd="9" destOrd="0" parTransId="{38E0B5FF-0CEC-4721-AFCF-8F51C14D7D69}" sibTransId="{73D0BC4F-5C28-47DF-997D-CF259B8490BB}"/>
    <dgm:cxn modelId="{E34E5996-ED6C-4C72-A685-8E5E49F0A27D}" type="presOf" srcId="{443648F8-4A81-4058-A8BB-10B1A87B4384}" destId="{009012E1-1388-4749-9F06-3E05CE391183}" srcOrd="0" destOrd="0" presId="urn:microsoft.com/office/officeart/2005/8/layout/venn1"/>
    <dgm:cxn modelId="{EF263E9B-6E7E-4B08-8CD2-65812F57EE93}" srcId="{DD9ECCA9-E6C5-40B4-A289-4B41BCB1CC19}" destId="{5EA1E1DB-1C38-4B8E-AEAC-8C71A837F182}" srcOrd="10" destOrd="0" parTransId="{3AA7E3BA-3D3F-46A5-8AEF-CF2CFE23BA6D}" sibTransId="{E2BD0D58-1E60-470B-967D-C054CAD092C4}"/>
    <dgm:cxn modelId="{249F98C2-E0CC-423B-BF4E-99307F3917A7}" srcId="{DD9ECCA9-E6C5-40B4-A289-4B41BCB1CC19}" destId="{18237065-F27C-460C-930F-A6A9155BF76C}" srcOrd="7" destOrd="0" parTransId="{5559DFC2-AFAC-4645-8A8F-1DD39A1D6254}" sibTransId="{94907A2F-66D4-4660-8491-F51DEC589367}"/>
    <dgm:cxn modelId="{30A5F8C6-0EAF-44B1-9018-4810F2BBE896}" type="presOf" srcId="{B474AAF7-2AD1-4C92-BAA0-E25B087EC3D0}" destId="{3FF210A3-71D4-4DAE-8398-2CB3D318CE08}" srcOrd="0" destOrd="0" presId="urn:microsoft.com/office/officeart/2005/8/layout/venn1"/>
    <dgm:cxn modelId="{FAC6DCD7-0376-4E96-8711-8257827CF0A5}" type="presOf" srcId="{CC4045EA-940A-49F5-AA15-BB76C7C74161}" destId="{DC98A215-184C-4447-BFE8-02FC46877367}" srcOrd="0" destOrd="0" presId="urn:microsoft.com/office/officeart/2005/8/layout/venn1"/>
    <dgm:cxn modelId="{E9A94EDA-1154-48DA-866B-ABB33DA33F7A}" srcId="{DD9ECCA9-E6C5-40B4-A289-4B41BCB1CC19}" destId="{12BE01FC-3958-4CAA-A4DB-37563886D26F}" srcOrd="12" destOrd="0" parTransId="{4834B2C9-04AB-4A8C-94C6-C4A69FC46121}" sibTransId="{CAF0FB33-26A9-4F1E-9130-5E269384A70F}"/>
    <dgm:cxn modelId="{57CF98E2-80C5-47C8-8CE9-B724532EA4F1}" srcId="{DD9ECCA9-E6C5-40B4-A289-4B41BCB1CC19}" destId="{B474AAF7-2AD1-4C92-BAA0-E25B087EC3D0}" srcOrd="6" destOrd="0" parTransId="{04D4CC36-536F-40C5-B4D7-9A32034C5415}" sibTransId="{53EE9B89-7725-499E-A006-0C5B59339471}"/>
    <dgm:cxn modelId="{1D048FE9-AD93-4374-AB3C-3934BB0CA45D}" srcId="{DD9ECCA9-E6C5-40B4-A289-4B41BCB1CC19}" destId="{443648F8-4A81-4058-A8BB-10B1A87B4384}" srcOrd="2" destOrd="0" parTransId="{CB9D74DF-9139-432A-82A0-D6BEE5531D49}" sibTransId="{016155C4-DD56-4261-94F7-05E299B410F7}"/>
    <dgm:cxn modelId="{4E6EB9F0-52EF-40DA-B1E9-DCBC7F739C2E}" type="presOf" srcId="{DD9ECCA9-E6C5-40B4-A289-4B41BCB1CC19}" destId="{B14B0D5D-1A18-4395-A275-766579AD8B88}" srcOrd="0" destOrd="0" presId="urn:microsoft.com/office/officeart/2005/8/layout/venn1"/>
    <dgm:cxn modelId="{04E683FF-4FA7-4BF2-A0C9-A4D71F28AC6C}" srcId="{DD9ECCA9-E6C5-40B4-A289-4B41BCB1CC19}" destId="{AADFF897-922B-4B11-9D78-52204A23ACE6}" srcOrd="8" destOrd="0" parTransId="{0A9BE0CD-713B-4289-ABA2-F0A653063F2F}" sibTransId="{D44CAC6F-816B-4F18-B9E8-848377344C39}"/>
    <dgm:cxn modelId="{DC4B1BAF-5164-48AF-818D-1CFBCC8FD968}" type="presParOf" srcId="{B14B0D5D-1A18-4395-A275-766579AD8B88}" destId="{1D4B3E95-E4C2-453C-8763-2953B4532A28}" srcOrd="0" destOrd="0" presId="urn:microsoft.com/office/officeart/2005/8/layout/venn1"/>
    <dgm:cxn modelId="{652112B8-AF14-4ABF-B0DA-529E5E11C2D4}" type="presParOf" srcId="{B14B0D5D-1A18-4395-A275-766579AD8B88}" destId="{48C3DA68-3C4F-45E7-8374-1733AEE28A64}" srcOrd="1" destOrd="0" presId="urn:microsoft.com/office/officeart/2005/8/layout/venn1"/>
    <dgm:cxn modelId="{1BA63558-14AE-4111-BD0C-5E22CD26D8C8}" type="presParOf" srcId="{B14B0D5D-1A18-4395-A275-766579AD8B88}" destId="{909453DD-7193-4C72-913B-35710FB77B56}" srcOrd="2" destOrd="0" presId="urn:microsoft.com/office/officeart/2005/8/layout/venn1"/>
    <dgm:cxn modelId="{D40D3F62-98E2-47A3-8982-B82B8FE9BE85}" type="presParOf" srcId="{B14B0D5D-1A18-4395-A275-766579AD8B88}" destId="{2FEAB27A-FD03-4D15-A73A-AC2B58D31725}" srcOrd="3" destOrd="0" presId="urn:microsoft.com/office/officeart/2005/8/layout/venn1"/>
    <dgm:cxn modelId="{CAEFC15A-901D-4183-B7B6-FC0E746978B2}" type="presParOf" srcId="{B14B0D5D-1A18-4395-A275-766579AD8B88}" destId="{11A4D54D-80F6-44E6-8838-92AAC93CF837}" srcOrd="4" destOrd="0" presId="urn:microsoft.com/office/officeart/2005/8/layout/venn1"/>
    <dgm:cxn modelId="{AC9BDFFB-6687-4730-8DD0-AFDCFA133988}" type="presParOf" srcId="{B14B0D5D-1A18-4395-A275-766579AD8B88}" destId="{009012E1-1388-4749-9F06-3E05CE391183}" srcOrd="5" destOrd="0" presId="urn:microsoft.com/office/officeart/2005/8/layout/venn1"/>
    <dgm:cxn modelId="{B77B8600-C0F3-4A7F-A76A-02C9EA88F829}" type="presParOf" srcId="{B14B0D5D-1A18-4395-A275-766579AD8B88}" destId="{9AEA7B49-D230-4F05-839B-1F4DB51B91C5}" srcOrd="6" destOrd="0" presId="urn:microsoft.com/office/officeart/2005/8/layout/venn1"/>
    <dgm:cxn modelId="{5BD0FE86-A6E3-456E-861D-014DCEB694E2}" type="presParOf" srcId="{B14B0D5D-1A18-4395-A275-766579AD8B88}" destId="{DC98A215-184C-4447-BFE8-02FC46877367}" srcOrd="7" destOrd="0" presId="urn:microsoft.com/office/officeart/2005/8/layout/venn1"/>
    <dgm:cxn modelId="{DD2CCAD6-2013-484C-A490-6B71FBDDD65F}" type="presParOf" srcId="{B14B0D5D-1A18-4395-A275-766579AD8B88}" destId="{9227B616-05EB-4DF6-96AA-7BA12EDE31CB}" srcOrd="8" destOrd="0" presId="urn:microsoft.com/office/officeart/2005/8/layout/venn1"/>
    <dgm:cxn modelId="{841126CF-6FFF-45F1-98CB-8BE31B1D8FF7}" type="presParOf" srcId="{B14B0D5D-1A18-4395-A275-766579AD8B88}" destId="{00240F1F-FE45-43F3-8351-C35A9A198228}" srcOrd="9" destOrd="0" presId="urn:microsoft.com/office/officeart/2005/8/layout/venn1"/>
    <dgm:cxn modelId="{3B811773-4944-45DD-8E87-318E2F92F10C}" type="presParOf" srcId="{B14B0D5D-1A18-4395-A275-766579AD8B88}" destId="{4ECBDB70-4657-4948-81B3-489A4896C179}" srcOrd="10" destOrd="0" presId="urn:microsoft.com/office/officeart/2005/8/layout/venn1"/>
    <dgm:cxn modelId="{D7FC010A-DC8E-4978-87EB-6B310461B705}" type="presParOf" srcId="{B14B0D5D-1A18-4395-A275-766579AD8B88}" destId="{1A786C29-B45C-4CD2-A270-261C80120439}" srcOrd="11" destOrd="0" presId="urn:microsoft.com/office/officeart/2005/8/layout/venn1"/>
    <dgm:cxn modelId="{A46E5C3F-790E-4554-B679-D3CD19CA867A}" type="presParOf" srcId="{B14B0D5D-1A18-4395-A275-766579AD8B88}" destId="{6A87D528-D40A-48FF-A1C7-6DFFD3749685}" srcOrd="12" destOrd="0" presId="urn:microsoft.com/office/officeart/2005/8/layout/venn1"/>
    <dgm:cxn modelId="{FE95DC63-D855-46EC-971A-F4DC6392F413}" type="presParOf" srcId="{B14B0D5D-1A18-4395-A275-766579AD8B88}" destId="{3FF210A3-71D4-4DAE-8398-2CB3D318CE08}" srcOrd="1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B3E95-E4C2-453C-8763-2953B4532A28}">
      <dsp:nvSpPr>
        <dsp:cNvPr id="0" name=""/>
        <dsp:cNvSpPr/>
      </dsp:nvSpPr>
      <dsp:spPr>
        <a:xfrm>
          <a:off x="4894981" y="1934508"/>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48C3DA68-3C4F-45E7-8374-1733AEE28A64}">
      <dsp:nvSpPr>
        <dsp:cNvPr id="0" name=""/>
        <dsp:cNvSpPr/>
      </dsp:nvSpPr>
      <dsp:spPr>
        <a:xfrm>
          <a:off x="4714276" y="0"/>
          <a:ext cx="2839647" cy="151964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a:t>Maximize Campaign Success Rate:</a:t>
          </a:r>
          <a:endParaRPr lang="en-IN" sz="2500" kern="1200"/>
        </a:p>
      </dsp:txBody>
      <dsp:txXfrm>
        <a:off x="4714276" y="0"/>
        <a:ext cx="2839647" cy="1519645"/>
      </dsp:txXfrm>
    </dsp:sp>
    <dsp:sp modelId="{909453DD-7193-4C72-913B-35710FB77B56}">
      <dsp:nvSpPr>
        <dsp:cNvPr id="0" name=""/>
        <dsp:cNvSpPr/>
      </dsp:nvSpPr>
      <dsp:spPr>
        <a:xfrm>
          <a:off x="5621930" y="2284027"/>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FEAB27A-FD03-4D15-A73A-AC2B58D31725}">
      <dsp:nvSpPr>
        <dsp:cNvPr id="0" name=""/>
        <dsp:cNvSpPr/>
      </dsp:nvSpPr>
      <dsp:spPr>
        <a:xfrm>
          <a:off x="8405817" y="1443663"/>
          <a:ext cx="2684757" cy="167160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dirty="0"/>
            <a:t>Focusing on high-performing categories</a:t>
          </a:r>
          <a:endParaRPr lang="en-IN" sz="2500" b="1" kern="1200" dirty="0"/>
        </a:p>
      </dsp:txBody>
      <dsp:txXfrm>
        <a:off x="8405817" y="1443663"/>
        <a:ext cx="2684757" cy="1671609"/>
      </dsp:txXfrm>
    </dsp:sp>
    <dsp:sp modelId="{11A4D54D-80F6-44E6-8838-92AAC93CF837}">
      <dsp:nvSpPr>
        <dsp:cNvPr id="0" name=""/>
        <dsp:cNvSpPr/>
      </dsp:nvSpPr>
      <dsp:spPr>
        <a:xfrm>
          <a:off x="5800570" y="3070443"/>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09012E1-1388-4749-9F06-3E05CE391183}">
      <dsp:nvSpPr>
        <dsp:cNvPr id="0" name=""/>
        <dsp:cNvSpPr/>
      </dsp:nvSpPr>
      <dsp:spPr>
        <a:xfrm>
          <a:off x="8663967" y="3571166"/>
          <a:ext cx="2633127" cy="17855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dirty="0"/>
            <a:t>launching campaigns in categories with historically higher success rates</a:t>
          </a:r>
          <a:endParaRPr lang="en-IN" sz="2500" b="1" kern="1200" dirty="0"/>
        </a:p>
      </dsp:txBody>
      <dsp:txXfrm>
        <a:off x="8663967" y="3571166"/>
        <a:ext cx="2633127" cy="1785583"/>
      </dsp:txXfrm>
    </dsp:sp>
    <dsp:sp modelId="{9AEA7B49-D230-4F05-839B-1F4DB51B91C5}">
      <dsp:nvSpPr>
        <dsp:cNvPr id="0" name=""/>
        <dsp:cNvSpPr/>
      </dsp:nvSpPr>
      <dsp:spPr>
        <a:xfrm>
          <a:off x="5297694" y="3701096"/>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DC98A215-184C-4447-BFE8-02FC46877367}">
      <dsp:nvSpPr>
        <dsp:cNvPr id="0" name=""/>
        <dsp:cNvSpPr/>
      </dsp:nvSpPr>
      <dsp:spPr>
        <a:xfrm>
          <a:off x="7528108" y="5964608"/>
          <a:ext cx="2839647" cy="16336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dirty="0"/>
            <a:t>Set Optimal Funding Goals</a:t>
          </a:r>
          <a:endParaRPr lang="en-IN" sz="2500" kern="1200" dirty="0"/>
        </a:p>
      </dsp:txBody>
      <dsp:txXfrm>
        <a:off x="7528108" y="5964608"/>
        <a:ext cx="2839647" cy="1633618"/>
      </dsp:txXfrm>
    </dsp:sp>
    <dsp:sp modelId="{9227B616-05EB-4DF6-96AA-7BA12EDE31CB}">
      <dsp:nvSpPr>
        <dsp:cNvPr id="0" name=""/>
        <dsp:cNvSpPr/>
      </dsp:nvSpPr>
      <dsp:spPr>
        <a:xfrm>
          <a:off x="4492267" y="3701096"/>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0240F1F-FE45-43F3-8351-C35A9A198228}">
      <dsp:nvSpPr>
        <dsp:cNvPr id="0" name=""/>
        <dsp:cNvSpPr/>
      </dsp:nvSpPr>
      <dsp:spPr>
        <a:xfrm>
          <a:off x="1900443" y="5964608"/>
          <a:ext cx="2839647" cy="16336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kern="1200" dirty="0"/>
            <a:t> </a:t>
          </a:r>
          <a:r>
            <a:rPr lang="en-US" sz="2500" b="1" kern="1200" dirty="0"/>
            <a:t>goal-range analysis to set realistic funding targets</a:t>
          </a:r>
          <a:endParaRPr lang="en-IN" sz="2500" b="1" kern="1200" dirty="0"/>
        </a:p>
      </dsp:txBody>
      <dsp:txXfrm>
        <a:off x="1900443" y="5964608"/>
        <a:ext cx="2839647" cy="1633618"/>
      </dsp:txXfrm>
    </dsp:sp>
    <dsp:sp modelId="{4ECBDB70-4657-4948-81B3-489A4896C179}">
      <dsp:nvSpPr>
        <dsp:cNvPr id="0" name=""/>
        <dsp:cNvSpPr/>
      </dsp:nvSpPr>
      <dsp:spPr>
        <a:xfrm>
          <a:off x="3989391" y="3070443"/>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A786C29-B45C-4CD2-A270-261C80120439}">
      <dsp:nvSpPr>
        <dsp:cNvPr id="0" name=""/>
        <dsp:cNvSpPr/>
      </dsp:nvSpPr>
      <dsp:spPr>
        <a:xfrm>
          <a:off x="971104" y="3571166"/>
          <a:ext cx="2633127" cy="17855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dirty="0"/>
            <a:t>Avoid extremely high or low goals to improve backer engagement</a:t>
          </a:r>
          <a:endParaRPr lang="en-IN" sz="2500" b="1" kern="1200" dirty="0"/>
        </a:p>
      </dsp:txBody>
      <dsp:txXfrm>
        <a:off x="971104" y="3571166"/>
        <a:ext cx="2633127" cy="1785583"/>
      </dsp:txXfrm>
    </dsp:sp>
    <dsp:sp modelId="{6A87D528-D40A-48FF-A1C7-6DFFD3749685}">
      <dsp:nvSpPr>
        <dsp:cNvPr id="0" name=""/>
        <dsp:cNvSpPr/>
      </dsp:nvSpPr>
      <dsp:spPr>
        <a:xfrm>
          <a:off x="4168031" y="2284027"/>
          <a:ext cx="2478237" cy="24785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FF210A3-71D4-4DAE-8398-2CB3D318CE08}">
      <dsp:nvSpPr>
        <dsp:cNvPr id="0" name=""/>
        <dsp:cNvSpPr/>
      </dsp:nvSpPr>
      <dsp:spPr>
        <a:xfrm>
          <a:off x="1177624" y="1443663"/>
          <a:ext cx="2684757" cy="167160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b="1" kern="1200" dirty="0"/>
            <a:t>Time Campaign Launch Strategically</a:t>
          </a:r>
          <a:endParaRPr lang="en-IN" sz="2500" kern="1200" dirty="0"/>
        </a:p>
      </dsp:txBody>
      <dsp:txXfrm>
        <a:off x="1177624" y="1443663"/>
        <a:ext cx="2684757" cy="167160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8" Type="http://schemas.openxmlformats.org/officeDocument/2006/relationships/hyperlink" Target="https://www.flickr.com/photos/ervins_strauhmanis/9547663730/in/photolist-fxGgMU-bZvYH1-8rfCL3-b45P5K-8eoT9r-eeq5iW-57piRE-7jFqA3-9sV62e-bunMFE-bZwG3C-6uS88F-3P4oQM-j8EQ8A-MJMmk-mSES3-3P4eGi-iJhGqe-avPkAk-iEpZn1-h5rD-9K42Ki-2QE6tm-9btbLk-dDTBZV-iJiYm8-ikv1u5-gQkBZ-fn6roG-8zxhTH-su4mw-4uzfh-9rD9Qo-7geCjd-bkpWAg-iJjHgY-iJjGFj-aALUbP-iJmF8h-83WSof-9jexQ9-mUq4m2-asPHTj-bHjavB-pUiKrK-a4TZem-MJDYs-iJiZuv-7EekNk-7HDE3U" TargetMode="External"/><Relationship Id="rId3" Type="http://schemas.openxmlformats.org/officeDocument/2006/relationships/diagramLayout" Target="../diagrams/layout1.xml"/><Relationship Id="rId7" Type="http://schemas.openxmlformats.org/officeDocument/2006/relationships/image" Target="../media/image19.jpg"/><Relationship Id="rId12" Type="http://schemas.openxmlformats.org/officeDocument/2006/relationships/image" Target="../media/image17.sv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16.png"/><Relationship Id="rId5" Type="http://schemas.openxmlformats.org/officeDocument/2006/relationships/diagramColors" Target="../diagrams/colors1.xml"/><Relationship Id="rId10" Type="http://schemas.openxmlformats.org/officeDocument/2006/relationships/hyperlink" Target="https://pxhere.com/en/photo/1557443" TargetMode="External"/><Relationship Id="rId4" Type="http://schemas.openxmlformats.org/officeDocument/2006/relationships/diagramQuickStyle" Target="../diagrams/quickStyle1.xml"/><Relationship Id="rId9" Type="http://schemas.openxmlformats.org/officeDocument/2006/relationships/image" Target="../media/image20.jpe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5" name="Group 5"/>
          <p:cNvGrpSpPr/>
          <p:nvPr/>
        </p:nvGrpSpPr>
        <p:grpSpPr>
          <a:xfrm>
            <a:off x="12321950" y="5279859"/>
            <a:ext cx="5737450" cy="4664241"/>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blipFill>
              <a:blip r:embed="rId2"/>
              <a:stretch>
                <a:fillRect l="-15666" r="-15666"/>
              </a:stretch>
            </a:blipFill>
          </p:spPr>
        </p:sp>
      </p:grpSp>
      <p:grpSp>
        <p:nvGrpSpPr>
          <p:cNvPr id="7" name="Group 7"/>
          <p:cNvGrpSpPr/>
          <p:nvPr/>
        </p:nvGrpSpPr>
        <p:grpSpPr>
          <a:xfrm>
            <a:off x="12321950" y="287620"/>
            <a:ext cx="5737450" cy="4893980"/>
            <a:chOff x="0" y="0"/>
            <a:chExt cx="812800" cy="711200"/>
          </a:xfrm>
        </p:grpSpPr>
        <p:sp>
          <p:nvSpPr>
            <p:cNvPr id="8" name="Freeform 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blipFill>
              <a:blip r:embed="rId3"/>
              <a:stretch>
                <a:fillRect l="-15625" r="-15625"/>
              </a:stretch>
            </a:blipFill>
          </p:spPr>
        </p:sp>
      </p:grpSp>
      <p:grpSp>
        <p:nvGrpSpPr>
          <p:cNvPr id="9" name="Group 9"/>
          <p:cNvGrpSpPr/>
          <p:nvPr/>
        </p:nvGrpSpPr>
        <p:grpSpPr>
          <a:xfrm>
            <a:off x="9372600" y="238539"/>
            <a:ext cx="5737392" cy="4828761"/>
            <a:chOff x="0" y="0"/>
            <a:chExt cx="812800" cy="711200"/>
          </a:xfrm>
        </p:grpSpPr>
        <p:sp>
          <p:nvSpPr>
            <p:cNvPr id="10" name="Freeform 1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blipFill>
              <a:blip r:embed="rId4"/>
              <a:stretch>
                <a:fillRect l="-31332"/>
              </a:stretch>
            </a:blipFill>
          </p:spPr>
        </p:sp>
      </p:grpSp>
      <p:sp>
        <p:nvSpPr>
          <p:cNvPr id="35" name="Freeform 35"/>
          <p:cNvSpPr/>
          <p:nvPr/>
        </p:nvSpPr>
        <p:spPr>
          <a:xfrm>
            <a:off x="16700075" y="9372803"/>
            <a:ext cx="368725" cy="342697"/>
          </a:xfrm>
          <a:custGeom>
            <a:avLst/>
            <a:gdLst/>
            <a:ahLst/>
            <a:cxnLst/>
            <a:rect l="l" t="t" r="r" b="b"/>
            <a:pathLst>
              <a:path w="368725" h="368725">
                <a:moveTo>
                  <a:pt x="0" y="0"/>
                </a:moveTo>
                <a:lnTo>
                  <a:pt x="368725" y="0"/>
                </a:lnTo>
                <a:lnTo>
                  <a:pt x="368725" y="368725"/>
                </a:lnTo>
                <a:lnTo>
                  <a:pt x="0" y="3687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Freeform 36"/>
          <p:cNvSpPr/>
          <p:nvPr/>
        </p:nvSpPr>
        <p:spPr>
          <a:xfrm>
            <a:off x="16008282" y="9372804"/>
            <a:ext cx="374718" cy="342696"/>
          </a:xfrm>
          <a:custGeom>
            <a:avLst/>
            <a:gdLst/>
            <a:ahLst/>
            <a:cxnLst/>
            <a:rect l="l" t="t" r="r" b="b"/>
            <a:pathLst>
              <a:path w="374718" h="342696">
                <a:moveTo>
                  <a:pt x="0" y="0"/>
                </a:moveTo>
                <a:lnTo>
                  <a:pt x="374718" y="0"/>
                </a:lnTo>
                <a:lnTo>
                  <a:pt x="374718" y="342696"/>
                </a:lnTo>
                <a:lnTo>
                  <a:pt x="0" y="34269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9" name="TextBox 39"/>
          <p:cNvSpPr txBox="1"/>
          <p:nvPr/>
        </p:nvSpPr>
        <p:spPr>
          <a:xfrm>
            <a:off x="609600" y="9270666"/>
            <a:ext cx="11277600" cy="1351332"/>
          </a:xfrm>
          <a:prstGeom prst="rect">
            <a:avLst/>
          </a:prstGeom>
        </p:spPr>
        <p:txBody>
          <a:bodyPr wrap="square" lIns="0" tIns="0" rIns="0" bIns="0" rtlCol="0" anchor="t">
            <a:spAutoFit/>
          </a:bodyPr>
          <a:lstStyle/>
          <a:p>
            <a:pPr algn="l">
              <a:lnSpc>
                <a:spcPts val="3640"/>
              </a:lnSpc>
            </a:pPr>
            <a:r>
              <a:rPr lang="en-US" sz="2800" b="1" dirty="0">
                <a:latin typeface="Arial" panose="020B0604020202020204" pitchFamily="34" charset="0"/>
                <a:ea typeface="Inter Italics"/>
                <a:cs typeface="Arial" panose="020B0604020202020204" pitchFamily="34" charset="0"/>
                <a:sym typeface="Inter Italics"/>
              </a:rPr>
              <a:t>Group-2 : Anadi, Srushti, Bhavani, Vijay, Shyam, Suyash, Chandramouli </a:t>
            </a:r>
          </a:p>
          <a:p>
            <a:pPr algn="l">
              <a:lnSpc>
                <a:spcPts val="3640"/>
              </a:lnSpc>
            </a:pPr>
            <a:endParaRPr lang="en-US" sz="2800" b="1" dirty="0">
              <a:latin typeface="Arial" panose="020B0604020202020204" pitchFamily="34" charset="0"/>
              <a:ea typeface="Inter Italics"/>
              <a:cs typeface="Arial" panose="020B0604020202020204" pitchFamily="34" charset="0"/>
              <a:sym typeface="Inter Italics"/>
            </a:endParaRPr>
          </a:p>
        </p:txBody>
      </p:sp>
      <p:sp>
        <p:nvSpPr>
          <p:cNvPr id="40" name="TextBox 40"/>
          <p:cNvSpPr txBox="1"/>
          <p:nvPr/>
        </p:nvSpPr>
        <p:spPr>
          <a:xfrm>
            <a:off x="752775" y="479054"/>
            <a:ext cx="9773668" cy="4347729"/>
          </a:xfrm>
          <a:prstGeom prst="rect">
            <a:avLst/>
          </a:prstGeom>
        </p:spPr>
        <p:txBody>
          <a:bodyPr lIns="0" tIns="0" rIns="0" bIns="0" rtlCol="0" anchor="t">
            <a:spAutoFit/>
          </a:bodyPr>
          <a:lstStyle/>
          <a:p>
            <a:pPr algn="l">
              <a:lnSpc>
                <a:spcPts val="11575"/>
              </a:lnSpc>
            </a:pPr>
            <a:r>
              <a:rPr lang="en-US" sz="8800" b="1" dirty="0" err="1">
                <a:solidFill>
                  <a:srgbClr val="1E1E22"/>
                </a:solidFill>
                <a:latin typeface="Algerian" panose="04020705040A02060702" pitchFamily="82" charset="0"/>
                <a:ea typeface="Anton"/>
                <a:cs typeface="Arial" panose="020B0604020202020204" pitchFamily="34" charset="0"/>
                <a:sym typeface="Anton"/>
              </a:rPr>
              <a:t>KIcKSTARTERS</a:t>
            </a:r>
            <a:r>
              <a:rPr lang="en-US" sz="8800" b="1" dirty="0">
                <a:solidFill>
                  <a:srgbClr val="1E1E22"/>
                </a:solidFill>
                <a:latin typeface="Algerian" panose="04020705040A02060702" pitchFamily="82" charset="0"/>
                <a:ea typeface="Anton"/>
                <a:cs typeface="Arial" panose="020B0604020202020204" pitchFamily="34" charset="0"/>
                <a:sym typeface="Anton"/>
              </a:rPr>
              <a:t> CROWDFUNDING ANALYSIS</a:t>
            </a:r>
          </a:p>
        </p:txBody>
      </p:sp>
      <p:sp>
        <p:nvSpPr>
          <p:cNvPr id="41" name="Freeform 41"/>
          <p:cNvSpPr/>
          <p:nvPr/>
        </p:nvSpPr>
        <p:spPr>
          <a:xfrm>
            <a:off x="17345686" y="9377807"/>
            <a:ext cx="312165" cy="342696"/>
          </a:xfrm>
          <a:custGeom>
            <a:avLst/>
            <a:gdLst/>
            <a:ahLst/>
            <a:cxnLst/>
            <a:rect l="l" t="t" r="r" b="b"/>
            <a:pathLst>
              <a:path w="312165" h="342696">
                <a:moveTo>
                  <a:pt x="0" y="0"/>
                </a:moveTo>
                <a:lnTo>
                  <a:pt x="312165" y="0"/>
                </a:lnTo>
                <a:lnTo>
                  <a:pt x="312165" y="342696"/>
                </a:lnTo>
                <a:lnTo>
                  <a:pt x="0" y="34269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2" name="TextBox 41">
            <a:extLst>
              <a:ext uri="{FF2B5EF4-FFF2-40B4-BE49-F238E27FC236}">
                <a16:creationId xmlns:a16="http://schemas.microsoft.com/office/drawing/2014/main" id="{55887B8A-C0AD-D71D-A28F-5CF631AD16F3}"/>
              </a:ext>
            </a:extLst>
          </p:cNvPr>
          <p:cNvSpPr txBox="1"/>
          <p:nvPr/>
        </p:nvSpPr>
        <p:spPr>
          <a:xfrm>
            <a:off x="1065181" y="5332337"/>
            <a:ext cx="10441019" cy="618374"/>
          </a:xfrm>
          <a:prstGeom prst="rect">
            <a:avLst/>
          </a:prstGeom>
          <a:noFill/>
        </p:spPr>
        <p:txBody>
          <a:bodyPr wrap="square" rtlCol="0">
            <a:spAutoFit/>
          </a:bodyPr>
          <a:lstStyle/>
          <a:p>
            <a:pPr algn="l">
              <a:lnSpc>
                <a:spcPct val="150000"/>
              </a:lnSpc>
            </a:pPr>
            <a:r>
              <a:rPr lang="en-US" sz="2600" b="1" spc="52" dirty="0">
                <a:solidFill>
                  <a:srgbClr val="1E1E22"/>
                </a:solidFill>
                <a:latin typeface="Arial" panose="020B0604020202020204" pitchFamily="34" charset="0"/>
                <a:ea typeface="Inter"/>
                <a:cs typeface="Arial" panose="020B0604020202020204" pitchFamily="34" charset="0"/>
                <a:sym typeface="Inter"/>
              </a:rPr>
              <a:t>CROWDFUNDING ANALYSIS THROUGH 4 DIFFERENT TOOLS</a:t>
            </a:r>
          </a:p>
        </p:txBody>
      </p:sp>
      <p:sp>
        <p:nvSpPr>
          <p:cNvPr id="43" name="TextBox 42">
            <a:extLst>
              <a:ext uri="{FF2B5EF4-FFF2-40B4-BE49-F238E27FC236}">
                <a16:creationId xmlns:a16="http://schemas.microsoft.com/office/drawing/2014/main" id="{EE25B7D9-65F7-FFB1-314B-CF889792C926}"/>
              </a:ext>
            </a:extLst>
          </p:cNvPr>
          <p:cNvSpPr txBox="1"/>
          <p:nvPr/>
        </p:nvSpPr>
        <p:spPr>
          <a:xfrm>
            <a:off x="2514600" y="6177648"/>
            <a:ext cx="5562600" cy="2250873"/>
          </a:xfrm>
          <a:prstGeom prst="rect">
            <a:avLst/>
          </a:prstGeom>
          <a:noFill/>
        </p:spPr>
        <p:txBody>
          <a:bodyPr wrap="square" rtlCol="0">
            <a:spAutoFit/>
          </a:bodyPr>
          <a:lstStyle/>
          <a:p>
            <a:pPr marL="566421" lvl="1" indent="-285750" algn="l">
              <a:lnSpc>
                <a:spcPct val="150000"/>
              </a:lnSpc>
              <a:buFont typeface="Wingdings" panose="05000000000000000000" pitchFamily="2" charset="2"/>
              <a:buChar char="§"/>
            </a:pPr>
            <a:r>
              <a:rPr lang="en-US"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rPr>
              <a:t>Excel </a:t>
            </a:r>
          </a:p>
          <a:p>
            <a:pPr marL="566421" lvl="1" indent="-285750" algn="l">
              <a:lnSpc>
                <a:spcPct val="150000"/>
              </a:lnSpc>
              <a:buFont typeface="Wingdings" panose="05000000000000000000" pitchFamily="2" charset="2"/>
              <a:buChar char="§"/>
            </a:pPr>
            <a:r>
              <a:rPr lang="en-US"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rPr>
              <a:t>Power Bi </a:t>
            </a:r>
          </a:p>
          <a:p>
            <a:pPr marL="566421" lvl="1" indent="-285750" algn="l">
              <a:lnSpc>
                <a:spcPct val="150000"/>
              </a:lnSpc>
              <a:buFont typeface="Wingdings" panose="05000000000000000000" pitchFamily="2" charset="2"/>
              <a:buChar char="§"/>
            </a:pPr>
            <a:r>
              <a:rPr lang="en-US"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rPr>
              <a:t>Tableau </a:t>
            </a:r>
          </a:p>
          <a:p>
            <a:pPr marL="566421" lvl="1" indent="-285750" algn="l">
              <a:lnSpc>
                <a:spcPct val="150000"/>
              </a:lnSpc>
              <a:buFont typeface="Wingdings" panose="05000000000000000000" pitchFamily="2" charset="2"/>
              <a:buChar char="§"/>
            </a:pPr>
            <a:r>
              <a:rPr lang="en-US"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rPr>
              <a:t>My</a:t>
            </a:r>
            <a:r>
              <a:rPr lang="en-IN"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rPr>
              <a:t>SQL Queries</a:t>
            </a:r>
            <a:endParaRPr lang="en-US" sz="2400" b="1" spc="52" dirty="0">
              <a:solidFill>
                <a:schemeClr val="tx2">
                  <a:lumMod val="50000"/>
                </a:schemeClr>
              </a:solidFill>
              <a:latin typeface="Arial Rounded MT Bold" panose="020F0704030504030204" pitchFamily="34" charset="0"/>
              <a:ea typeface="Inter"/>
              <a:cs typeface="Arial" panose="020B0604020202020204" pitchFamily="34" charset="0"/>
              <a:sym typeface="Inter"/>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34A85541-7645-8F1C-F478-DFC2A08B7F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7CEEA5-33DB-B223-4FB8-E795F3233773}"/>
              </a:ext>
            </a:extLst>
          </p:cNvPr>
          <p:cNvGrpSpPr/>
          <p:nvPr/>
        </p:nvGrpSpPr>
        <p:grpSpPr>
          <a:xfrm>
            <a:off x="457200" y="1413762"/>
            <a:ext cx="17085330" cy="8381265"/>
            <a:chOff x="0" y="-47625"/>
            <a:chExt cx="2362084" cy="1719450"/>
          </a:xfrm>
        </p:grpSpPr>
        <p:sp>
          <p:nvSpPr>
            <p:cNvPr id="3" name="Freeform 3">
              <a:extLst>
                <a:ext uri="{FF2B5EF4-FFF2-40B4-BE49-F238E27FC236}">
                  <a16:creationId xmlns:a16="http://schemas.microsoft.com/office/drawing/2014/main" id="{DAC9DED8-AFD0-EEED-2724-1FDE63B5B839}"/>
                </a:ext>
              </a:extLst>
            </p:cNvPr>
            <p:cNvSpPr/>
            <p:nvPr/>
          </p:nvSpPr>
          <p:spPr>
            <a:xfrm>
              <a:off x="0" y="0"/>
              <a:ext cx="2362084" cy="1671825"/>
            </a:xfrm>
            <a:custGeom>
              <a:avLst/>
              <a:gdLst/>
              <a:ahLst/>
              <a:cxnLst/>
              <a:rect l="l" t="t" r="r" b="b"/>
              <a:pathLst>
                <a:path w="2362084" h="1671825">
                  <a:moveTo>
                    <a:pt x="0" y="0"/>
                  </a:moveTo>
                  <a:lnTo>
                    <a:pt x="2362084" y="0"/>
                  </a:lnTo>
                  <a:lnTo>
                    <a:pt x="2362084" y="1671825"/>
                  </a:lnTo>
                  <a:lnTo>
                    <a:pt x="0" y="1671825"/>
                  </a:lnTo>
                  <a:close/>
                </a:path>
              </a:pathLst>
            </a:custGeom>
            <a:solidFill>
              <a:srgbClr val="DDDFE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CDA5E5DC-D2DE-F6BC-A12F-3B6F4EAC59DC}"/>
                </a:ext>
              </a:extLst>
            </p:cNvPr>
            <p:cNvSpPr txBox="1"/>
            <p:nvPr/>
          </p:nvSpPr>
          <p:spPr>
            <a:xfrm>
              <a:off x="0" y="-47625"/>
              <a:ext cx="2362083" cy="1719450"/>
            </a:xfrm>
            <a:prstGeom prst="rect">
              <a:avLst/>
            </a:prstGeom>
          </p:spPr>
          <p:txBody>
            <a:bodyPr lIns="50800" tIns="50800" rIns="50800" bIns="50800" rtlCol="0" anchor="ctr"/>
            <a:lstStyle/>
            <a:p>
              <a:pPr marL="0" marR="0" lvl="0" indent="0" algn="ctr" defTabSz="914400" rtl="0" eaLnBrk="1" fontAlgn="auto" latinLnBrk="0" hangingPunct="1">
                <a:lnSpc>
                  <a:spcPts val="36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A9105E1C-C944-D9AD-CF94-FFD41605BB9F}"/>
              </a:ext>
            </a:extLst>
          </p:cNvPr>
          <p:cNvSpPr txBox="1"/>
          <p:nvPr/>
        </p:nvSpPr>
        <p:spPr>
          <a:xfrm>
            <a:off x="569843" y="448392"/>
            <a:ext cx="10588444" cy="840423"/>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marL="0" marR="0" lvl="0" indent="0" algn="l" defTabSz="914400" rtl="0" eaLnBrk="1" fontAlgn="auto" latinLnBrk="0" hangingPunct="1">
              <a:lnSpc>
                <a:spcPts val="7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1E1E22"/>
                </a:solidFill>
                <a:effectLst/>
                <a:uLnTx/>
                <a:uFillTx/>
                <a:latin typeface="Algerian" panose="04020705040A02060702" pitchFamily="82" charset="0"/>
                <a:ea typeface="Anton"/>
                <a:cs typeface="Arial" panose="020B0604020202020204" pitchFamily="34" charset="0"/>
                <a:sym typeface="Anton"/>
              </a:rPr>
              <a:t>PROJECT OVERVIEW</a:t>
            </a:r>
          </a:p>
        </p:txBody>
      </p:sp>
      <p:sp>
        <p:nvSpPr>
          <p:cNvPr id="5" name="TextBox 4">
            <a:extLst>
              <a:ext uri="{FF2B5EF4-FFF2-40B4-BE49-F238E27FC236}">
                <a16:creationId xmlns:a16="http://schemas.microsoft.com/office/drawing/2014/main" id="{26FBF921-1FBE-13DC-2328-4405AE176C98}"/>
              </a:ext>
            </a:extLst>
          </p:cNvPr>
          <p:cNvSpPr txBox="1"/>
          <p:nvPr/>
        </p:nvSpPr>
        <p:spPr>
          <a:xfrm>
            <a:off x="1524000" y="1908280"/>
            <a:ext cx="15697200" cy="1538883"/>
          </a:xfrm>
          <a:prstGeom prst="rect">
            <a:avLst/>
          </a:prstGeom>
          <a:noFill/>
        </p:spPr>
        <p:txBody>
          <a:bodyPr wrap="square" rtlCol="0">
            <a:spAutoFit/>
          </a:bodyPr>
          <a:lstStyle/>
          <a:p>
            <a:r>
              <a:rPr lang="en-US" sz="2800" b="1" dirty="0">
                <a:latin typeface="Algerian" panose="04020705040A02060702" pitchFamily="82" charset="0"/>
              </a:rPr>
              <a:t>Objective:  </a:t>
            </a:r>
          </a:p>
          <a:p>
            <a:pPr marL="800100" lvl="1" indent="-342900">
              <a:buFont typeface="Arial" panose="020B0604020202020204" pitchFamily="34" charset="0"/>
              <a:buChar char="•"/>
            </a:pPr>
            <a:r>
              <a:rPr lang="en-US" sz="2400" dirty="0"/>
              <a:t>Analyze Kickstarter dataset to uncover insights on crowdfunding campaigns</a:t>
            </a:r>
            <a:r>
              <a:rPr lang="en-US" dirty="0"/>
              <a:t>.</a:t>
            </a:r>
          </a:p>
          <a:p>
            <a:pPr marL="800100" lvl="1" indent="-342900">
              <a:buFont typeface="Arial" panose="020B0604020202020204" pitchFamily="34" charset="0"/>
              <a:buChar char="•"/>
            </a:pPr>
            <a:r>
              <a:rPr lang="en-US" sz="2400" dirty="0"/>
              <a:t>Present findings with </a:t>
            </a:r>
            <a:r>
              <a:rPr lang="en-US" sz="2400" b="1" dirty="0"/>
              <a:t>interactive visualizations</a:t>
            </a:r>
            <a:r>
              <a:rPr lang="en-US" sz="2400" dirty="0"/>
              <a:t>.</a:t>
            </a:r>
          </a:p>
          <a:p>
            <a:endParaRPr lang="en-US" dirty="0"/>
          </a:p>
        </p:txBody>
      </p:sp>
      <p:sp>
        <p:nvSpPr>
          <p:cNvPr id="7" name="TextBox 6">
            <a:extLst>
              <a:ext uri="{FF2B5EF4-FFF2-40B4-BE49-F238E27FC236}">
                <a16:creationId xmlns:a16="http://schemas.microsoft.com/office/drawing/2014/main" id="{1A60D265-1298-88C3-1AFA-336149BCA047}"/>
              </a:ext>
            </a:extLst>
          </p:cNvPr>
          <p:cNvSpPr txBox="1"/>
          <p:nvPr/>
        </p:nvSpPr>
        <p:spPr>
          <a:xfrm>
            <a:off x="1524000" y="3454323"/>
            <a:ext cx="11582400" cy="4585871"/>
          </a:xfrm>
          <a:prstGeom prst="rect">
            <a:avLst/>
          </a:prstGeom>
          <a:noFill/>
        </p:spPr>
        <p:txBody>
          <a:bodyPr wrap="square">
            <a:spAutoFit/>
          </a:bodyPr>
          <a:lstStyle/>
          <a:p>
            <a:pPr>
              <a:buNone/>
            </a:pPr>
            <a:r>
              <a:rPr lang="en-IN" sz="2800" b="1" dirty="0">
                <a:latin typeface="Algerian" panose="04020705040A02060702" pitchFamily="82" charset="0"/>
              </a:rPr>
              <a:t>Dataset Overview:</a:t>
            </a:r>
          </a:p>
          <a:p>
            <a:pPr>
              <a:buNone/>
            </a:pPr>
            <a:endParaRPr lang="en-IN" sz="2400" b="1" dirty="0"/>
          </a:p>
          <a:p>
            <a:pPr>
              <a:buNone/>
            </a:pPr>
            <a:r>
              <a:rPr lang="en-IN" sz="2400" b="1" dirty="0"/>
              <a:t>	Size:</a:t>
            </a:r>
            <a:r>
              <a:rPr lang="en-IN" sz="2400" dirty="0"/>
              <a:t> 365,892 records, 25+ attributes.</a:t>
            </a:r>
          </a:p>
          <a:p>
            <a:pPr>
              <a:buNone/>
            </a:pPr>
            <a:r>
              <a:rPr lang="en-US" sz="2400" dirty="0"/>
              <a:t>	Columns with 25+ attributes (id, name, goal, pledged, category, backers, dates…).</a:t>
            </a:r>
          </a:p>
          <a:p>
            <a:pPr>
              <a:buNone/>
            </a:pPr>
            <a:endParaRPr lang="en-US" sz="2400" dirty="0"/>
          </a:p>
          <a:p>
            <a:r>
              <a:rPr lang="en-US" sz="2400" b="1" dirty="0"/>
              <a:t>	Challenges in Raw Data:</a:t>
            </a:r>
            <a:endParaRPr lang="en-US" sz="2400" dirty="0"/>
          </a:p>
          <a:p>
            <a:pPr marL="1257300" lvl="2" indent="-342900">
              <a:buFont typeface="Arial" panose="020B0604020202020204" pitchFamily="34" charset="0"/>
              <a:buChar char="•"/>
            </a:pPr>
            <a:r>
              <a:rPr lang="en-US" sz="2400" dirty="0"/>
              <a:t>Inconsistent headers &amp; duplicates.</a:t>
            </a:r>
          </a:p>
          <a:p>
            <a:pPr marL="1257300" lvl="2" indent="-342900">
              <a:buFont typeface="Arial" panose="020B0604020202020204" pitchFamily="34" charset="0"/>
              <a:buChar char="•"/>
            </a:pPr>
            <a:r>
              <a:rPr lang="en-US" sz="2400" dirty="0"/>
              <a:t>Currency variations (USD, GBP, EUR, etc.).</a:t>
            </a:r>
          </a:p>
          <a:p>
            <a:pPr marL="1257300" lvl="2" indent="-342900">
              <a:buFont typeface="Arial" panose="020B0604020202020204" pitchFamily="34" charset="0"/>
              <a:buChar char="•"/>
            </a:pPr>
            <a:r>
              <a:rPr lang="en-US" sz="2400" dirty="0"/>
              <a:t>Different date formats (epoch, dd-mm-</a:t>
            </a:r>
            <a:r>
              <a:rPr lang="en-US" sz="2400" dirty="0" err="1"/>
              <a:t>yyyy</a:t>
            </a:r>
            <a:r>
              <a:rPr lang="en-US" sz="2400" dirty="0"/>
              <a:t>).</a:t>
            </a:r>
          </a:p>
          <a:p>
            <a:pPr marL="1257300" lvl="2" indent="-342900">
              <a:buFont typeface="Arial" panose="020B0604020202020204" pitchFamily="34" charset="0"/>
              <a:buChar char="•"/>
            </a:pPr>
            <a:r>
              <a:rPr lang="en-US" sz="2400" dirty="0"/>
              <a:t>Large file size (365k rows).</a:t>
            </a:r>
          </a:p>
          <a:p>
            <a:pPr>
              <a:buNone/>
            </a:pPr>
            <a:endParaRPr lang="en-IN" sz="2400" dirty="0"/>
          </a:p>
          <a:p>
            <a:pPr>
              <a:buNone/>
            </a:pPr>
            <a:endParaRPr lang="en-US" sz="2400" dirty="0"/>
          </a:p>
        </p:txBody>
      </p:sp>
      <p:sp>
        <p:nvSpPr>
          <p:cNvPr id="9" name="TextBox 8">
            <a:extLst>
              <a:ext uri="{FF2B5EF4-FFF2-40B4-BE49-F238E27FC236}">
                <a16:creationId xmlns:a16="http://schemas.microsoft.com/office/drawing/2014/main" id="{5A085CE6-B806-3607-E184-85937555039E}"/>
              </a:ext>
            </a:extLst>
          </p:cNvPr>
          <p:cNvSpPr txBox="1"/>
          <p:nvPr/>
        </p:nvSpPr>
        <p:spPr>
          <a:xfrm>
            <a:off x="1524000" y="9058295"/>
            <a:ext cx="9144000" cy="523220"/>
          </a:xfrm>
          <a:prstGeom prst="rect">
            <a:avLst/>
          </a:prstGeom>
          <a:noFill/>
        </p:spPr>
        <p:txBody>
          <a:bodyPr wrap="square">
            <a:spAutoFit/>
          </a:bodyPr>
          <a:lstStyle/>
          <a:p>
            <a:r>
              <a:rPr lang="en-US" sz="2800" b="1" dirty="0">
                <a:latin typeface="Algerian" panose="04020705040A02060702" pitchFamily="82" charset="0"/>
              </a:rPr>
              <a:t>Tools Used</a:t>
            </a:r>
            <a:r>
              <a:rPr lang="en-US" sz="2400" b="1" dirty="0">
                <a:latin typeface="Algerian" panose="04020705040A02060702" pitchFamily="82" charset="0"/>
              </a:rPr>
              <a:t>: </a:t>
            </a:r>
            <a:r>
              <a:rPr lang="en-US" sz="2400" dirty="0">
                <a:latin typeface="Algerian" panose="04020705040A02060702" pitchFamily="82" charset="0"/>
              </a:rPr>
              <a:t> </a:t>
            </a:r>
            <a:r>
              <a:rPr lang="en-US" sz="2400" dirty="0"/>
              <a:t>Excel, Power BI, Tableau, MySQL</a:t>
            </a:r>
            <a:endParaRPr lang="en-IN" sz="2400" dirty="0"/>
          </a:p>
        </p:txBody>
      </p:sp>
      <p:sp>
        <p:nvSpPr>
          <p:cNvPr id="12" name="TextBox 11">
            <a:extLst>
              <a:ext uri="{FF2B5EF4-FFF2-40B4-BE49-F238E27FC236}">
                <a16:creationId xmlns:a16="http://schemas.microsoft.com/office/drawing/2014/main" id="{FCC2C4C9-B02D-EE50-DDCF-8E0D9C20EBB7}"/>
              </a:ext>
            </a:extLst>
          </p:cNvPr>
          <p:cNvSpPr txBox="1"/>
          <p:nvPr/>
        </p:nvSpPr>
        <p:spPr>
          <a:xfrm>
            <a:off x="1143000" y="7915097"/>
            <a:ext cx="9144000" cy="892552"/>
          </a:xfrm>
          <a:prstGeom prst="rect">
            <a:avLst/>
          </a:prstGeom>
          <a:noFill/>
        </p:spPr>
        <p:txBody>
          <a:bodyPr wrap="square">
            <a:spAutoFit/>
          </a:bodyPr>
          <a:lstStyle/>
          <a:p>
            <a:pPr algn="ctr"/>
            <a:r>
              <a:rPr lang="en-US" sz="2800" b="1" dirty="0">
                <a:latin typeface="Algerian" panose="04020705040A02060702" pitchFamily="82" charset="0"/>
              </a:rPr>
              <a:t>Visual:</a:t>
            </a:r>
            <a:r>
              <a:rPr lang="en-US" sz="2800" dirty="0">
                <a:latin typeface="Algerian" panose="04020705040A02060702" pitchFamily="82" charset="0"/>
              </a:rPr>
              <a:t>  </a:t>
            </a:r>
            <a:r>
              <a:rPr lang="en-US" sz="2400" dirty="0"/>
              <a:t>Flow diagram showing </a:t>
            </a:r>
            <a:r>
              <a:rPr lang="en-US" sz="2400" b="1" dirty="0"/>
              <a:t>Data → Cleaning → Analysis → Visualization → Insights</a:t>
            </a:r>
            <a:endParaRPr lang="en-IN" sz="2400" dirty="0"/>
          </a:p>
        </p:txBody>
      </p:sp>
    </p:spTree>
    <p:extLst>
      <p:ext uri="{BB962C8B-B14F-4D97-AF65-F5344CB8AC3E}">
        <p14:creationId xmlns:p14="http://schemas.microsoft.com/office/powerpoint/2010/main" val="1258293034"/>
      </p:ext>
    </p:extLst>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4046BB1-D45E-2D39-9D16-BB3A1A8692FB}"/>
              </a:ext>
            </a:extLst>
          </p:cNvPr>
          <p:cNvSpPr txBox="1"/>
          <p:nvPr/>
        </p:nvSpPr>
        <p:spPr>
          <a:xfrm>
            <a:off x="609600" y="119527"/>
            <a:ext cx="5257800" cy="1754326"/>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5400" b="1" dirty="0">
                <a:solidFill>
                  <a:schemeClr val="tx2">
                    <a:lumMod val="75000"/>
                  </a:schemeClr>
                </a:solidFill>
                <a:latin typeface="Algerian" panose="04020705040A02060702" pitchFamily="82" charset="0"/>
                <a:cs typeface="Arial" panose="020B0604020202020204" pitchFamily="34" charset="0"/>
              </a:rPr>
              <a:t>EXCEL DASHBOARD</a:t>
            </a:r>
            <a:endParaRPr lang="en-IN" sz="5400" b="1" dirty="0">
              <a:solidFill>
                <a:schemeClr val="tx2">
                  <a:lumMod val="75000"/>
                </a:schemeClr>
              </a:solidFill>
              <a:latin typeface="Algerian" panose="04020705040A02060702" pitchFamily="82" charset="0"/>
              <a:cs typeface="Arial" panose="020B0604020202020204" pitchFamily="34" charset="0"/>
            </a:endParaRPr>
          </a:p>
        </p:txBody>
      </p:sp>
      <p:pic>
        <p:nvPicPr>
          <p:cNvPr id="2" name="Picture 1">
            <a:extLst>
              <a:ext uri="{FF2B5EF4-FFF2-40B4-BE49-F238E27FC236}">
                <a16:creationId xmlns:a16="http://schemas.microsoft.com/office/drawing/2014/main" id="{99AD8AC2-4669-2E39-20F0-47BD49D3400C}"/>
              </a:ext>
            </a:extLst>
          </p:cNvPr>
          <p:cNvPicPr>
            <a:picLocks noChangeAspect="1"/>
          </p:cNvPicPr>
          <p:nvPr/>
        </p:nvPicPr>
        <p:blipFill>
          <a:blip r:embed="rId2"/>
          <a:stretch>
            <a:fillRect/>
          </a:stretch>
        </p:blipFill>
        <p:spPr>
          <a:xfrm>
            <a:off x="609600" y="2173426"/>
            <a:ext cx="17221200" cy="7772400"/>
          </a:xfrm>
          <a:prstGeom prst="rect">
            <a:avLst/>
          </a:prstGeom>
        </p:spPr>
      </p:pic>
      <p:sp>
        <p:nvSpPr>
          <p:cNvPr id="5" name="TextBox 4">
            <a:extLst>
              <a:ext uri="{FF2B5EF4-FFF2-40B4-BE49-F238E27FC236}">
                <a16:creationId xmlns:a16="http://schemas.microsoft.com/office/drawing/2014/main" id="{92AEB7D8-33C5-7B8A-1408-59B030C0DD6B}"/>
              </a:ext>
            </a:extLst>
          </p:cNvPr>
          <p:cNvSpPr txBox="1"/>
          <p:nvPr/>
        </p:nvSpPr>
        <p:spPr>
          <a:xfrm>
            <a:off x="5867400" y="341174"/>
            <a:ext cx="11887200" cy="1631216"/>
          </a:xfrm>
          <a:prstGeom prst="rect">
            <a:avLst/>
          </a:prstGeom>
          <a:noFill/>
        </p:spPr>
        <p:txBody>
          <a:bodyPr wrap="square" rtlCol="0">
            <a:spAutoFit/>
          </a:bodyPr>
          <a:lstStyle/>
          <a:p>
            <a:r>
              <a:rPr lang="en-US" sz="2000" b="1" dirty="0">
                <a:solidFill>
                  <a:schemeClr val="accent3">
                    <a:lumMod val="50000"/>
                  </a:schemeClr>
                </a:solidFill>
              </a:rPr>
              <a:t>The Excel dashboard provided a succession-focused view of the dataset, allowing us to directly compare successful and unsuccessful projects across multiple dimensions such as category, country, backer count, and funding goal. This helped us uncover patterns in success rates and highlight the critical role of goal-setting and audience engagement.</a:t>
            </a:r>
            <a:br>
              <a:rPr lang="en-US" sz="2000" b="1" i="1" dirty="0">
                <a:solidFill>
                  <a:schemeClr val="accent3">
                    <a:lumMod val="50000"/>
                  </a:schemeClr>
                </a:solidFill>
              </a:rPr>
            </a:br>
            <a:endParaRPr lang="en-IN" sz="2000" b="1" dirty="0">
              <a:solidFill>
                <a:schemeClr val="accent3">
                  <a:lumMod val="50000"/>
                </a:schemeClr>
              </a:solidFill>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4046BB1-D45E-2D39-9D16-BB3A1A8692FB}"/>
              </a:ext>
            </a:extLst>
          </p:cNvPr>
          <p:cNvSpPr txBox="1"/>
          <p:nvPr/>
        </p:nvSpPr>
        <p:spPr>
          <a:xfrm>
            <a:off x="685800" y="0"/>
            <a:ext cx="4800600" cy="1754326"/>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5400" b="1" dirty="0">
                <a:solidFill>
                  <a:schemeClr val="tx2">
                    <a:lumMod val="75000"/>
                  </a:schemeClr>
                </a:solidFill>
                <a:latin typeface="Algerian" panose="04020705040A02060702" pitchFamily="82" charset="0"/>
                <a:cs typeface="Arial" panose="020B0604020202020204" pitchFamily="34" charset="0"/>
              </a:rPr>
              <a:t>POWERBI DASHBOARD</a:t>
            </a:r>
            <a:endParaRPr lang="en-IN" sz="5400" b="1" dirty="0">
              <a:solidFill>
                <a:schemeClr val="tx2">
                  <a:lumMod val="75000"/>
                </a:schemeClr>
              </a:solidFill>
              <a:latin typeface="Algerian" panose="04020705040A02060702" pitchFamily="82" charset="0"/>
              <a:cs typeface="Arial" panose="020B0604020202020204" pitchFamily="34" charset="0"/>
            </a:endParaRPr>
          </a:p>
        </p:txBody>
      </p:sp>
      <p:pic>
        <p:nvPicPr>
          <p:cNvPr id="2" name="Content Placeholder 4">
            <a:extLst>
              <a:ext uri="{FF2B5EF4-FFF2-40B4-BE49-F238E27FC236}">
                <a16:creationId xmlns:a16="http://schemas.microsoft.com/office/drawing/2014/main" id="{BDF76C51-C0D7-657B-4D60-196A95758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866900"/>
            <a:ext cx="16992600" cy="8305800"/>
          </a:xfrm>
          <a:prstGeom prst="rect">
            <a:avLst/>
          </a:prstGeom>
        </p:spPr>
      </p:pic>
      <p:sp>
        <p:nvSpPr>
          <p:cNvPr id="3" name="TextBox 2">
            <a:extLst>
              <a:ext uri="{FF2B5EF4-FFF2-40B4-BE49-F238E27FC236}">
                <a16:creationId xmlns:a16="http://schemas.microsoft.com/office/drawing/2014/main" id="{A82B0D0E-CD72-FDFC-89AD-DA1B53ECD745}"/>
              </a:ext>
            </a:extLst>
          </p:cNvPr>
          <p:cNvSpPr txBox="1"/>
          <p:nvPr/>
        </p:nvSpPr>
        <p:spPr>
          <a:xfrm>
            <a:off x="5943600" y="215443"/>
            <a:ext cx="11811000" cy="1323439"/>
          </a:xfrm>
          <a:prstGeom prst="rect">
            <a:avLst/>
          </a:prstGeom>
          <a:noFill/>
        </p:spPr>
        <p:txBody>
          <a:bodyPr wrap="square" rtlCol="0">
            <a:spAutoFit/>
          </a:bodyPr>
          <a:lstStyle/>
          <a:p>
            <a:r>
              <a:rPr lang="en-US" sz="2000" b="1" dirty="0">
                <a:solidFill>
                  <a:schemeClr val="tx2">
                    <a:lumMod val="50000"/>
                  </a:schemeClr>
                </a:solidFill>
              </a:rPr>
              <a:t>The Power BI dashboard provided an all-around view of the crowdfunding ecosystem. It combined insights on success rates, country and category comparisons, backer participation, and funding efficiency into a single interactive experience. This helped identify not just whether projects succeeded, but where they succeeded, why they succeeded, and what patterns contributed most to success.</a:t>
            </a:r>
            <a:endParaRPr lang="en-IN" sz="2000" b="1" dirty="0">
              <a:solidFill>
                <a:schemeClr val="tx2">
                  <a:lumMod val="50000"/>
                </a:schemeClr>
              </a:solidFill>
            </a:endParaRPr>
          </a:p>
        </p:txBody>
      </p:sp>
    </p:spTree>
    <p:extLst>
      <p:ext uri="{BB962C8B-B14F-4D97-AF65-F5344CB8AC3E}">
        <p14:creationId xmlns:p14="http://schemas.microsoft.com/office/powerpoint/2010/main" val="2239257179"/>
      </p:ext>
    </p:extLst>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4046BB1-D45E-2D39-9D16-BB3A1A8692FB}"/>
              </a:ext>
            </a:extLst>
          </p:cNvPr>
          <p:cNvSpPr txBox="1"/>
          <p:nvPr/>
        </p:nvSpPr>
        <p:spPr>
          <a:xfrm>
            <a:off x="766997" y="-114300"/>
            <a:ext cx="7239000" cy="1754326"/>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5400" b="1" dirty="0">
                <a:solidFill>
                  <a:schemeClr val="tx2">
                    <a:lumMod val="75000"/>
                  </a:schemeClr>
                </a:solidFill>
                <a:latin typeface="Algerian" panose="04020705040A02060702" pitchFamily="82" charset="0"/>
                <a:cs typeface="Arial" panose="020B0604020202020204" pitchFamily="34" charset="0"/>
              </a:rPr>
              <a:t>TABLEAU DASHBOARD</a:t>
            </a:r>
            <a:endParaRPr lang="en-IN" sz="5400" b="1" dirty="0">
              <a:solidFill>
                <a:schemeClr val="tx2">
                  <a:lumMod val="75000"/>
                </a:schemeClr>
              </a:solidFill>
              <a:latin typeface="Algerian" panose="04020705040A02060702" pitchFamily="82" charset="0"/>
              <a:cs typeface="Arial" panose="020B0604020202020204" pitchFamily="34" charset="0"/>
            </a:endParaRPr>
          </a:p>
        </p:txBody>
      </p:sp>
      <p:pic>
        <p:nvPicPr>
          <p:cNvPr id="3" name="Picture 2">
            <a:extLst>
              <a:ext uri="{FF2B5EF4-FFF2-40B4-BE49-F238E27FC236}">
                <a16:creationId xmlns:a16="http://schemas.microsoft.com/office/drawing/2014/main" id="{D60A9328-49FC-2CBE-D7A5-7F0CEB5E0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640025"/>
            <a:ext cx="17297400" cy="8572500"/>
          </a:xfrm>
          <a:prstGeom prst="rect">
            <a:avLst/>
          </a:prstGeom>
        </p:spPr>
      </p:pic>
      <p:sp>
        <p:nvSpPr>
          <p:cNvPr id="2" name="TextBox 1">
            <a:extLst>
              <a:ext uri="{FF2B5EF4-FFF2-40B4-BE49-F238E27FC236}">
                <a16:creationId xmlns:a16="http://schemas.microsoft.com/office/drawing/2014/main" id="{80AE8341-95FE-8E73-150A-A4E17F0750B7}"/>
              </a:ext>
            </a:extLst>
          </p:cNvPr>
          <p:cNvSpPr txBox="1"/>
          <p:nvPr/>
        </p:nvSpPr>
        <p:spPr>
          <a:xfrm>
            <a:off x="5867400" y="162698"/>
            <a:ext cx="12039600" cy="1200329"/>
          </a:xfrm>
          <a:prstGeom prst="rect">
            <a:avLst/>
          </a:prstGeom>
          <a:noFill/>
        </p:spPr>
        <p:txBody>
          <a:bodyPr wrap="square" rtlCol="0">
            <a:spAutoFit/>
          </a:bodyPr>
          <a:lstStyle/>
          <a:p>
            <a:r>
              <a:rPr lang="en-US" b="1" dirty="0"/>
              <a:t>The Tableau dashboard revealed how crowdfunding evolved year by year. It not only highlighted the success percentage of projects but also compared ,whether campaigns became more ambitious or conservative over time. The timeline analysis allowed us to see peaks of activity, growth in backer participation, and shifting category dominance, giving a dynamic picture of crowdfunding’s trajectory.</a:t>
            </a:r>
            <a:endParaRPr lang="en-IN" b="1" dirty="0"/>
          </a:p>
        </p:txBody>
      </p:sp>
    </p:spTree>
    <p:extLst>
      <p:ext uri="{BB962C8B-B14F-4D97-AF65-F5344CB8AC3E}">
        <p14:creationId xmlns:p14="http://schemas.microsoft.com/office/powerpoint/2010/main" val="2285643378"/>
      </p:ext>
    </p:extLst>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4046BB1-D45E-2D39-9D16-BB3A1A8692FB}"/>
              </a:ext>
            </a:extLst>
          </p:cNvPr>
          <p:cNvSpPr txBox="1"/>
          <p:nvPr/>
        </p:nvSpPr>
        <p:spPr>
          <a:xfrm>
            <a:off x="540895" y="345638"/>
            <a:ext cx="14097000" cy="92333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5400" b="1" dirty="0">
                <a:solidFill>
                  <a:schemeClr val="tx2">
                    <a:lumMod val="75000"/>
                  </a:schemeClr>
                </a:solidFill>
                <a:latin typeface="Algerian" panose="04020705040A02060702" pitchFamily="82" charset="0"/>
                <a:cs typeface="Arial" panose="020B0604020202020204" pitchFamily="34" charset="0"/>
              </a:rPr>
              <a:t>SQL QUERIES</a:t>
            </a:r>
            <a:endParaRPr lang="en-IN" sz="5400" b="1" dirty="0">
              <a:solidFill>
                <a:schemeClr val="tx2">
                  <a:lumMod val="75000"/>
                </a:schemeClr>
              </a:solidFill>
              <a:latin typeface="Algerian" panose="04020705040A02060702" pitchFamily="82" charset="0"/>
              <a:cs typeface="Arial" panose="020B0604020202020204" pitchFamily="34" charset="0"/>
            </a:endParaRPr>
          </a:p>
        </p:txBody>
      </p:sp>
      <p:cxnSp>
        <p:nvCxnSpPr>
          <p:cNvPr id="17" name="Straight Connector 16">
            <a:extLst>
              <a:ext uri="{FF2B5EF4-FFF2-40B4-BE49-F238E27FC236}">
                <a16:creationId xmlns:a16="http://schemas.microsoft.com/office/drawing/2014/main" id="{7EC416F0-EE31-6339-75B7-499AFDFE724B}"/>
              </a:ext>
            </a:extLst>
          </p:cNvPr>
          <p:cNvCxnSpPr/>
          <p:nvPr/>
        </p:nvCxnSpPr>
        <p:spPr>
          <a:xfrm>
            <a:off x="7529007" y="7277100"/>
            <a:ext cx="2224593"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6CD1831D-E5DF-AC65-A098-6FC142A12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324100"/>
            <a:ext cx="9220199" cy="7696200"/>
          </a:xfrm>
          <a:prstGeom prst="rect">
            <a:avLst/>
          </a:prstGeom>
        </p:spPr>
      </p:pic>
      <p:pic>
        <p:nvPicPr>
          <p:cNvPr id="5" name="Picture 4">
            <a:extLst>
              <a:ext uri="{FF2B5EF4-FFF2-40B4-BE49-F238E27FC236}">
                <a16:creationId xmlns:a16="http://schemas.microsoft.com/office/drawing/2014/main" id="{061D3E63-4345-AD21-6D70-BC4E53A5F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600" y="0"/>
            <a:ext cx="8237801" cy="10287000"/>
          </a:xfrm>
          <a:prstGeom prst="rect">
            <a:avLst/>
          </a:prstGeom>
        </p:spPr>
      </p:pic>
      <p:sp>
        <p:nvSpPr>
          <p:cNvPr id="6" name="TextBox 5">
            <a:extLst>
              <a:ext uri="{FF2B5EF4-FFF2-40B4-BE49-F238E27FC236}">
                <a16:creationId xmlns:a16="http://schemas.microsoft.com/office/drawing/2014/main" id="{DE0A6214-B4E7-58A7-BC49-84E7EC73FCDB}"/>
              </a:ext>
            </a:extLst>
          </p:cNvPr>
          <p:cNvSpPr txBox="1"/>
          <p:nvPr/>
        </p:nvSpPr>
        <p:spPr>
          <a:xfrm>
            <a:off x="535898" y="1535668"/>
            <a:ext cx="8458200" cy="738664"/>
          </a:xfrm>
          <a:prstGeom prst="rect">
            <a:avLst/>
          </a:prstGeom>
          <a:noFill/>
        </p:spPr>
        <p:txBody>
          <a:bodyPr wrap="square" rtlCol="0">
            <a:spAutoFit/>
          </a:bodyPr>
          <a:lstStyle/>
          <a:p>
            <a:r>
              <a:rPr lang="en-IN" sz="2400" b="1" dirty="0"/>
              <a:t>Data Ingestion and Data Analysis MYSQL queries sample</a:t>
            </a:r>
          </a:p>
          <a:p>
            <a:endParaRPr lang="en-IN" dirty="0"/>
          </a:p>
        </p:txBody>
      </p:sp>
    </p:spTree>
    <p:extLst>
      <p:ext uri="{BB962C8B-B14F-4D97-AF65-F5344CB8AC3E}">
        <p14:creationId xmlns:p14="http://schemas.microsoft.com/office/powerpoint/2010/main" val="1313816989"/>
      </p:ext>
    </p:extLst>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518837" y="1333496"/>
            <a:ext cx="16995494" cy="8273773"/>
            <a:chOff x="0" y="0"/>
            <a:chExt cx="4816593" cy="2026614"/>
          </a:xfrm>
          <a:solidFill>
            <a:schemeClr val="bg1">
              <a:lumMod val="85000"/>
            </a:schemeClr>
          </a:solidFill>
        </p:grpSpPr>
        <p:sp>
          <p:nvSpPr>
            <p:cNvPr id="3" name="Freeform 3"/>
            <p:cNvSpPr/>
            <p:nvPr/>
          </p:nvSpPr>
          <p:spPr>
            <a:xfrm>
              <a:off x="0" y="0"/>
              <a:ext cx="4816592" cy="2026614"/>
            </a:xfrm>
            <a:custGeom>
              <a:avLst/>
              <a:gdLst/>
              <a:ahLst/>
              <a:cxnLst/>
              <a:rect l="l" t="t" r="r" b="b"/>
              <a:pathLst>
                <a:path w="4816592" h="2026614">
                  <a:moveTo>
                    <a:pt x="0" y="0"/>
                  </a:moveTo>
                  <a:lnTo>
                    <a:pt x="4816592" y="0"/>
                  </a:lnTo>
                  <a:lnTo>
                    <a:pt x="4816592" y="2026614"/>
                  </a:lnTo>
                  <a:lnTo>
                    <a:pt x="0" y="2026614"/>
                  </a:lnTo>
                  <a:close/>
                </a:path>
              </a:pathLst>
            </a:custGeom>
            <a:grpFill/>
          </p:spPr>
        </p:sp>
        <p:sp>
          <p:nvSpPr>
            <p:cNvPr id="4" name="TextBox 4"/>
            <p:cNvSpPr txBox="1"/>
            <p:nvPr/>
          </p:nvSpPr>
          <p:spPr>
            <a:xfrm>
              <a:off x="0" y="-47625"/>
              <a:ext cx="4816593" cy="2074239"/>
            </a:xfrm>
            <a:prstGeom prst="rect">
              <a:avLst/>
            </a:prstGeom>
            <a:grpFill/>
          </p:spPr>
          <p:txBody>
            <a:bodyPr lIns="50800" tIns="50800" rIns="50800" bIns="50800" rtlCol="0" anchor="ctr"/>
            <a:lstStyle/>
            <a:p>
              <a:pPr algn="ctr">
                <a:lnSpc>
                  <a:spcPts val="3640"/>
                </a:lnSpc>
              </a:pPr>
              <a:endParaRPr/>
            </a:p>
          </p:txBody>
        </p:sp>
      </p:grpSp>
      <p:grpSp>
        <p:nvGrpSpPr>
          <p:cNvPr id="5" name="Group 5"/>
          <p:cNvGrpSpPr/>
          <p:nvPr/>
        </p:nvGrpSpPr>
        <p:grpSpPr>
          <a:xfrm>
            <a:off x="493854" y="1333500"/>
            <a:ext cx="4114800" cy="8229600"/>
            <a:chOff x="0" y="0"/>
            <a:chExt cx="2280122" cy="2237975"/>
          </a:xfrm>
          <a:solidFill>
            <a:schemeClr val="bg1">
              <a:lumMod val="85000"/>
            </a:schemeClr>
          </a:solidFill>
        </p:grpSpPr>
        <p:sp>
          <p:nvSpPr>
            <p:cNvPr id="6" name="Freeform 6"/>
            <p:cNvSpPr/>
            <p:nvPr/>
          </p:nvSpPr>
          <p:spPr>
            <a:xfrm>
              <a:off x="0" y="0"/>
              <a:ext cx="2280122" cy="2237974"/>
            </a:xfrm>
            <a:custGeom>
              <a:avLst/>
              <a:gdLst/>
              <a:ahLst/>
              <a:cxnLst/>
              <a:rect l="l" t="t" r="r" b="b"/>
              <a:pathLst>
                <a:path w="2280122" h="2237974">
                  <a:moveTo>
                    <a:pt x="0" y="0"/>
                  </a:moveTo>
                  <a:lnTo>
                    <a:pt x="2280122" y="0"/>
                  </a:lnTo>
                  <a:lnTo>
                    <a:pt x="2280122" y="2237974"/>
                  </a:lnTo>
                  <a:lnTo>
                    <a:pt x="0" y="2237974"/>
                  </a:lnTo>
                  <a:close/>
                </a:path>
              </a:pathLst>
            </a:custGeom>
            <a:grpFill/>
            <a:ln>
              <a:solidFill>
                <a:schemeClr val="bg1">
                  <a:lumMod val="85000"/>
                </a:schemeClr>
              </a:solidFill>
            </a:ln>
          </p:spPr>
        </p:sp>
        <p:sp>
          <p:nvSpPr>
            <p:cNvPr id="7" name="TextBox 7"/>
            <p:cNvSpPr txBox="1"/>
            <p:nvPr/>
          </p:nvSpPr>
          <p:spPr>
            <a:xfrm>
              <a:off x="0" y="-47625"/>
              <a:ext cx="2280122" cy="2285600"/>
            </a:xfrm>
            <a:prstGeom prst="rect">
              <a:avLst/>
            </a:prstGeom>
            <a:grpFill/>
            <a:ln>
              <a:solidFill>
                <a:schemeClr val="bg1">
                  <a:lumMod val="85000"/>
                </a:schemeClr>
              </a:solidFill>
            </a:ln>
          </p:spPr>
          <p:txBody>
            <a:bodyPr lIns="50800" tIns="50800" rIns="50800" bIns="50800" rtlCol="0" anchor="ctr"/>
            <a:lstStyle/>
            <a:p>
              <a:pPr algn="ctr">
                <a:lnSpc>
                  <a:spcPts val="3640"/>
                </a:lnSpc>
              </a:pPr>
              <a:endParaRPr/>
            </a:p>
          </p:txBody>
        </p:sp>
      </p:grpSp>
      <p:grpSp>
        <p:nvGrpSpPr>
          <p:cNvPr id="10" name="Group 10"/>
          <p:cNvGrpSpPr/>
          <p:nvPr/>
        </p:nvGrpSpPr>
        <p:grpSpPr>
          <a:xfrm>
            <a:off x="801151" y="1866900"/>
            <a:ext cx="3635034" cy="6725091"/>
            <a:chOff x="0" y="0"/>
            <a:chExt cx="1087011" cy="1946439"/>
          </a:xfrm>
        </p:grpSpPr>
        <p:sp>
          <p:nvSpPr>
            <p:cNvPr id="11" name="Freeform 11"/>
            <p:cNvSpPr/>
            <p:nvPr/>
          </p:nvSpPr>
          <p:spPr>
            <a:xfrm>
              <a:off x="0" y="0"/>
              <a:ext cx="1087011" cy="1946439"/>
            </a:xfrm>
            <a:custGeom>
              <a:avLst/>
              <a:gdLst/>
              <a:ahLst/>
              <a:cxnLst/>
              <a:rect l="l" t="t" r="r" b="b"/>
              <a:pathLst>
                <a:path w="1087011" h="1946439">
                  <a:moveTo>
                    <a:pt x="87251" y="0"/>
                  </a:moveTo>
                  <a:lnTo>
                    <a:pt x="999760" y="0"/>
                  </a:lnTo>
                  <a:cubicBezTo>
                    <a:pt x="1047948" y="0"/>
                    <a:pt x="1087011" y="39064"/>
                    <a:pt x="1087011" y="87251"/>
                  </a:cubicBezTo>
                  <a:lnTo>
                    <a:pt x="1087011" y="1859188"/>
                  </a:lnTo>
                  <a:cubicBezTo>
                    <a:pt x="1087011" y="1907376"/>
                    <a:pt x="1047948" y="1946439"/>
                    <a:pt x="999760" y="1946439"/>
                  </a:cubicBezTo>
                  <a:lnTo>
                    <a:pt x="87251" y="1946439"/>
                  </a:lnTo>
                  <a:cubicBezTo>
                    <a:pt x="64111" y="1946439"/>
                    <a:pt x="41918" y="1937247"/>
                    <a:pt x="25555" y="1920884"/>
                  </a:cubicBezTo>
                  <a:cubicBezTo>
                    <a:pt x="9192" y="1904521"/>
                    <a:pt x="0" y="1882329"/>
                    <a:pt x="0" y="1859188"/>
                  </a:cubicBezTo>
                  <a:lnTo>
                    <a:pt x="0" y="87251"/>
                  </a:lnTo>
                  <a:cubicBezTo>
                    <a:pt x="0" y="39064"/>
                    <a:pt x="39064" y="0"/>
                    <a:pt x="87251" y="0"/>
                  </a:cubicBezTo>
                  <a:close/>
                </a:path>
              </a:pathLst>
            </a:custGeom>
            <a:blipFill>
              <a:blip r:embed="rId2"/>
              <a:stretch>
                <a:fillRect l="-84381" r="-84381"/>
              </a:stretch>
            </a:blipFill>
          </p:spPr>
        </p:sp>
      </p:grpSp>
      <p:sp>
        <p:nvSpPr>
          <p:cNvPr id="12" name="TextBox 12"/>
          <p:cNvSpPr txBox="1"/>
          <p:nvPr/>
        </p:nvSpPr>
        <p:spPr>
          <a:xfrm>
            <a:off x="476364" y="183314"/>
            <a:ext cx="13335000" cy="840423"/>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l">
              <a:lnSpc>
                <a:spcPts val="7000"/>
              </a:lnSpc>
            </a:pPr>
            <a:r>
              <a:rPr lang="en-US" sz="5400" b="1" dirty="0">
                <a:solidFill>
                  <a:schemeClr val="tx2">
                    <a:lumMod val="50000"/>
                  </a:schemeClr>
                </a:solidFill>
                <a:latin typeface="Algerian" panose="04020705040A02060702" pitchFamily="82" charset="0"/>
                <a:ea typeface="Anton"/>
                <a:cs typeface="Arial" panose="020B0604020202020204" pitchFamily="34" charset="0"/>
                <a:sym typeface="Anton"/>
              </a:rPr>
              <a:t>CHALLENGES:</a:t>
            </a:r>
            <a:endParaRPr lang="en-US" sz="7200" b="1" dirty="0">
              <a:solidFill>
                <a:schemeClr val="tx2">
                  <a:lumMod val="50000"/>
                </a:schemeClr>
              </a:solidFill>
              <a:latin typeface="Algerian" panose="04020705040A02060702" pitchFamily="82" charset="0"/>
              <a:ea typeface="Anton"/>
              <a:cs typeface="Arial" panose="020B0604020202020204" pitchFamily="34" charset="0"/>
              <a:sym typeface="Anton"/>
            </a:endParaRPr>
          </a:p>
        </p:txBody>
      </p:sp>
      <p:sp>
        <p:nvSpPr>
          <p:cNvPr id="14" name="TextBox 13">
            <a:extLst>
              <a:ext uri="{FF2B5EF4-FFF2-40B4-BE49-F238E27FC236}">
                <a16:creationId xmlns:a16="http://schemas.microsoft.com/office/drawing/2014/main" id="{25475511-94B7-D285-D995-4DE279FB5477}"/>
              </a:ext>
            </a:extLst>
          </p:cNvPr>
          <p:cNvSpPr txBox="1"/>
          <p:nvPr/>
        </p:nvSpPr>
        <p:spPr>
          <a:xfrm>
            <a:off x="4901783" y="1867597"/>
            <a:ext cx="12192000" cy="6186309"/>
          </a:xfrm>
          <a:prstGeom prst="rect">
            <a:avLst/>
          </a:prstGeom>
          <a:noFill/>
        </p:spPr>
        <p:txBody>
          <a:bodyPr wrap="square" rtlCol="0">
            <a:spAutoFit/>
          </a:bodyPr>
          <a:lstStyle/>
          <a:p>
            <a:r>
              <a:rPr lang="en-US" sz="2000" b="1" i="1" dirty="0"/>
              <a:t>Large Data Volume</a:t>
            </a:r>
          </a:p>
          <a:p>
            <a:pPr marL="800100" lvl="1" indent="-342900">
              <a:buFont typeface="Arial" panose="020B0604020202020204" pitchFamily="34" charset="0"/>
              <a:buChar char="•"/>
            </a:pPr>
            <a:r>
              <a:rPr lang="en-US" sz="2000" dirty="0"/>
              <a:t>Dataset contained </a:t>
            </a:r>
            <a:r>
              <a:rPr lang="en-US" sz="2000" b="1" dirty="0"/>
              <a:t>hundreds of thousands of rows</a:t>
            </a:r>
            <a:r>
              <a:rPr lang="en-US" sz="2000" dirty="0"/>
              <a:t>, too large for manual handling.</a:t>
            </a:r>
          </a:p>
          <a:p>
            <a:pPr marL="800100" lvl="1" indent="-342900">
              <a:buFont typeface="Arial" panose="020B0604020202020204" pitchFamily="34" charset="0"/>
              <a:buChar char="•"/>
            </a:pPr>
            <a:r>
              <a:rPr lang="en-US" sz="2000" dirty="0"/>
              <a:t>Excel and direct imports struggled; had to design scalable ingestion methods.</a:t>
            </a:r>
          </a:p>
          <a:p>
            <a:pPr marL="342900" indent="-342900">
              <a:buFont typeface="Arial" panose="020B0604020202020204" pitchFamily="34" charset="0"/>
              <a:buChar char="•"/>
            </a:pPr>
            <a:endParaRPr lang="en-US" sz="2000" i="1" dirty="0"/>
          </a:p>
          <a:p>
            <a:r>
              <a:rPr lang="en-US" sz="2000" b="1" i="1" dirty="0"/>
              <a:t>Data Loading into MySQL</a:t>
            </a:r>
            <a:endParaRPr lang="en-US" sz="2000" i="1" dirty="0"/>
          </a:p>
          <a:p>
            <a:pPr marL="800100" lvl="1" indent="-342900">
              <a:buFont typeface="Arial" panose="020B0604020202020204" pitchFamily="34" charset="0"/>
              <a:buChar char="•"/>
            </a:pPr>
            <a:r>
              <a:rPr lang="en-US" sz="2000" dirty="0"/>
              <a:t>	Faced multiple technical errors:</a:t>
            </a:r>
          </a:p>
          <a:p>
            <a:pPr lvl="1"/>
            <a:r>
              <a:rPr lang="en-US" sz="2000" i="1" dirty="0"/>
              <a:t>		Row truncation errors</a:t>
            </a:r>
            <a:r>
              <a:rPr lang="en-US" sz="2000" dirty="0"/>
              <a:t> due to mismatched column counts.</a:t>
            </a:r>
          </a:p>
          <a:p>
            <a:pPr lvl="1"/>
            <a:r>
              <a:rPr lang="en-US" sz="2000" i="1" dirty="0"/>
              <a:t>		Incorrect decimal value errors</a:t>
            </a:r>
            <a:r>
              <a:rPr lang="en-US" sz="2000" dirty="0"/>
              <a:t> (currency symbols inside numeric columns).</a:t>
            </a:r>
          </a:p>
          <a:p>
            <a:pPr lvl="1"/>
            <a:r>
              <a:rPr lang="en-US" sz="2000" i="1" dirty="0"/>
              <a:t>		Date parsing errors</a:t>
            </a:r>
            <a:r>
              <a:rPr lang="en-US" sz="2000" dirty="0"/>
              <a:t> because of mixed formats.</a:t>
            </a:r>
          </a:p>
          <a:p>
            <a:endParaRPr lang="en-US" dirty="0"/>
          </a:p>
          <a:p>
            <a:r>
              <a:rPr lang="en-US" sz="2000" b="1" i="1" dirty="0"/>
              <a:t>Different Tool Requirements</a:t>
            </a:r>
            <a:endParaRPr lang="en-US" sz="2000" i="1" dirty="0"/>
          </a:p>
          <a:p>
            <a:pPr marL="800100" lvl="1" indent="-342900">
              <a:buFont typeface="Arial" panose="020B0604020202020204" pitchFamily="34" charset="0"/>
              <a:buChar char="•"/>
            </a:pPr>
            <a:r>
              <a:rPr lang="en-US" sz="2000" dirty="0"/>
              <a:t>	Each tool (Excel, Power BI, Tableau, MySQL) had its own limitations and formatting needs.</a:t>
            </a:r>
          </a:p>
          <a:p>
            <a:pPr marL="800100" lvl="1" indent="-342900">
              <a:buFont typeface="Arial" panose="020B0604020202020204" pitchFamily="34" charset="0"/>
              <a:buChar char="•"/>
            </a:pPr>
            <a:r>
              <a:rPr lang="en-US" sz="2000" dirty="0"/>
              <a:t>	Had to repeatedly adapt and restructure the dataset to fit </a:t>
            </a:r>
            <a:r>
              <a:rPr lang="en-US" sz="2000" b="1" dirty="0"/>
              <a:t>Excel pivot models, Tableau extracts, and Power 	BI model relationships</a:t>
            </a:r>
            <a:r>
              <a:rPr lang="en-US" sz="2000" dirty="0"/>
              <a:t>.</a:t>
            </a:r>
          </a:p>
          <a:p>
            <a:endParaRPr lang="en-US" sz="2000" i="1" dirty="0"/>
          </a:p>
          <a:p>
            <a:r>
              <a:rPr lang="en-US" sz="2000" b="1" i="1" dirty="0"/>
              <a:t>Time-Intensive Cleaning</a:t>
            </a:r>
            <a:endParaRPr lang="en-US" sz="2000" i="1" dirty="0"/>
          </a:p>
          <a:p>
            <a:pPr marL="914400" lvl="1" indent="-457200">
              <a:buFont typeface="Arial" panose="020B0604020202020204" pitchFamily="34" charset="0"/>
              <a:buChar char="•"/>
            </a:pPr>
            <a:r>
              <a:rPr lang="en-US" sz="2000" dirty="0"/>
              <a:t>Cleaning and standardizing the dataset (especially for dates, goals, pledged amounts, and backers) took </a:t>
            </a:r>
            <a:r>
              <a:rPr lang="en-US" sz="2000" b="1" dirty="0"/>
              <a:t>more time than analysis</a:t>
            </a:r>
            <a:r>
              <a:rPr lang="en-US" sz="2000" dirty="0"/>
              <a:t>.</a:t>
            </a:r>
          </a:p>
          <a:p>
            <a:pPr marL="800100" lvl="1" indent="-342900">
              <a:buFont typeface="Arial" panose="020B0604020202020204" pitchFamily="34" charset="0"/>
              <a:buChar char="•"/>
            </a:pPr>
            <a:r>
              <a:rPr lang="en-US" sz="2000" dirty="0"/>
              <a:t>	Learned the importance of </a:t>
            </a:r>
            <a:r>
              <a:rPr lang="en-US" sz="2000" b="1" dirty="0"/>
              <a:t>data preprocessing before visualization.</a:t>
            </a:r>
            <a:endParaRPr lang="en-IN" sz="2000" b="1" dirty="0"/>
          </a:p>
          <a:p>
            <a:pPr marL="800100" lvl="1" indent="-342900">
              <a:buFont typeface="Arial" panose="020B0604020202020204" pitchFamily="34" charset="0"/>
              <a:buChar char="•"/>
            </a:pPr>
            <a:endParaRPr lang="en-IN" dirty="0"/>
          </a:p>
        </p:txBody>
      </p:sp>
      <p:sp>
        <p:nvSpPr>
          <p:cNvPr id="16" name="TextBox 15">
            <a:extLst>
              <a:ext uri="{FF2B5EF4-FFF2-40B4-BE49-F238E27FC236}">
                <a16:creationId xmlns:a16="http://schemas.microsoft.com/office/drawing/2014/main" id="{9E821552-F6EF-EAA2-A494-32ED5ACED821}"/>
              </a:ext>
            </a:extLst>
          </p:cNvPr>
          <p:cNvSpPr txBox="1"/>
          <p:nvPr/>
        </p:nvSpPr>
        <p:spPr>
          <a:xfrm>
            <a:off x="4724400" y="8496300"/>
            <a:ext cx="12344400" cy="830997"/>
          </a:xfrm>
          <a:prstGeom prst="rect">
            <a:avLst/>
          </a:prstGeom>
          <a:noFill/>
        </p:spPr>
        <p:txBody>
          <a:bodyPr wrap="square" rtlCol="0">
            <a:spAutoFit/>
          </a:bodyPr>
          <a:lstStyle/>
          <a:p>
            <a:r>
              <a:rPr lang="en-US" sz="2400" b="1" i="1" dirty="0"/>
              <a:t>Overcoming these challenges gave me hands-on experience in real-world data handling — from ETL pipelines and SQL staging to visualization adjustments across multiple BI tools.</a:t>
            </a:r>
            <a:endParaRPr lang="en-IN" sz="2400" b="1" i="1" dirty="0"/>
          </a:p>
        </p:txBody>
      </p:sp>
      <p:sp>
        <p:nvSpPr>
          <p:cNvPr id="8" name="Freeform 9">
            <a:extLst>
              <a:ext uri="{FF2B5EF4-FFF2-40B4-BE49-F238E27FC236}">
                <a16:creationId xmlns:a16="http://schemas.microsoft.com/office/drawing/2014/main" id="{8C0A7C52-0BF4-F240-2008-EA5AF1DE7018}"/>
              </a:ext>
            </a:extLst>
          </p:cNvPr>
          <p:cNvSpPr/>
          <p:nvPr/>
        </p:nvSpPr>
        <p:spPr>
          <a:xfrm>
            <a:off x="630999" y="1572045"/>
            <a:ext cx="563218" cy="589706"/>
          </a:xfrm>
          <a:custGeom>
            <a:avLst/>
            <a:gdLst/>
            <a:ahLst/>
            <a:cxnLst/>
            <a:rect l="l" t="t" r="r" b="b"/>
            <a:pathLst>
              <a:path w="1376532" h="1368138">
                <a:moveTo>
                  <a:pt x="0" y="0"/>
                </a:moveTo>
                <a:lnTo>
                  <a:pt x="1376532" y="0"/>
                </a:lnTo>
                <a:lnTo>
                  <a:pt x="1376532" y="1368138"/>
                </a:lnTo>
                <a:lnTo>
                  <a:pt x="0" y="13681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4" name="Group 4"/>
          <p:cNvGrpSpPr/>
          <p:nvPr/>
        </p:nvGrpSpPr>
        <p:grpSpPr>
          <a:xfrm>
            <a:off x="990600" y="2547582"/>
            <a:ext cx="11734800" cy="7472718"/>
            <a:chOff x="0" y="-47625"/>
            <a:chExt cx="1585651" cy="1260876"/>
          </a:xfrm>
        </p:grpSpPr>
        <p:sp>
          <p:nvSpPr>
            <p:cNvPr id="5" name="Freeform 5"/>
            <p:cNvSpPr/>
            <p:nvPr/>
          </p:nvSpPr>
          <p:spPr>
            <a:xfrm>
              <a:off x="0" y="0"/>
              <a:ext cx="1585651" cy="1213251"/>
            </a:xfrm>
            <a:custGeom>
              <a:avLst/>
              <a:gdLst/>
              <a:ahLst/>
              <a:cxnLst/>
              <a:rect l="l" t="t" r="r" b="b"/>
              <a:pathLst>
                <a:path w="1585651" h="1213251">
                  <a:moveTo>
                    <a:pt x="65582" y="0"/>
                  </a:moveTo>
                  <a:lnTo>
                    <a:pt x="1520069" y="0"/>
                  </a:lnTo>
                  <a:cubicBezTo>
                    <a:pt x="1556289" y="0"/>
                    <a:pt x="1585651" y="29362"/>
                    <a:pt x="1585651" y="65582"/>
                  </a:cubicBezTo>
                  <a:lnTo>
                    <a:pt x="1585651" y="1147669"/>
                  </a:lnTo>
                  <a:cubicBezTo>
                    <a:pt x="1585651" y="1165063"/>
                    <a:pt x="1578741" y="1181744"/>
                    <a:pt x="1566442" y="1194043"/>
                  </a:cubicBezTo>
                  <a:cubicBezTo>
                    <a:pt x="1554143" y="1206342"/>
                    <a:pt x="1537462" y="1213251"/>
                    <a:pt x="1520069" y="1213251"/>
                  </a:cubicBezTo>
                  <a:lnTo>
                    <a:pt x="65582" y="1213251"/>
                  </a:lnTo>
                  <a:cubicBezTo>
                    <a:pt x="48189" y="1213251"/>
                    <a:pt x="31508" y="1206342"/>
                    <a:pt x="19209" y="1194043"/>
                  </a:cubicBezTo>
                  <a:cubicBezTo>
                    <a:pt x="6910" y="1181744"/>
                    <a:pt x="0" y="1165063"/>
                    <a:pt x="0" y="1147669"/>
                  </a:cubicBezTo>
                  <a:lnTo>
                    <a:pt x="0" y="65582"/>
                  </a:lnTo>
                  <a:cubicBezTo>
                    <a:pt x="0" y="48189"/>
                    <a:pt x="6910" y="31508"/>
                    <a:pt x="19209" y="19209"/>
                  </a:cubicBezTo>
                  <a:cubicBezTo>
                    <a:pt x="31508" y="6910"/>
                    <a:pt x="48189" y="0"/>
                    <a:pt x="65582" y="0"/>
                  </a:cubicBezTo>
                  <a:close/>
                </a:path>
              </a:pathLst>
            </a:custGeom>
            <a:solidFill>
              <a:srgbClr val="DDDFE0"/>
            </a:solidFill>
          </p:spPr>
        </p:sp>
        <p:sp>
          <p:nvSpPr>
            <p:cNvPr id="6" name="TextBox 6"/>
            <p:cNvSpPr txBox="1"/>
            <p:nvPr/>
          </p:nvSpPr>
          <p:spPr>
            <a:xfrm>
              <a:off x="0" y="-47625"/>
              <a:ext cx="1585651" cy="1260876"/>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13335000" y="2095131"/>
            <a:ext cx="4419600" cy="7002623"/>
            <a:chOff x="0" y="0"/>
            <a:chExt cx="755683" cy="1047961"/>
          </a:xfrm>
        </p:grpSpPr>
        <p:sp>
          <p:nvSpPr>
            <p:cNvPr id="8" name="Freeform 8"/>
            <p:cNvSpPr/>
            <p:nvPr/>
          </p:nvSpPr>
          <p:spPr>
            <a:xfrm>
              <a:off x="0" y="0"/>
              <a:ext cx="755683" cy="1047961"/>
            </a:xfrm>
            <a:custGeom>
              <a:avLst/>
              <a:gdLst/>
              <a:ahLst/>
              <a:cxnLst/>
              <a:rect l="l" t="t" r="r" b="b"/>
              <a:pathLst>
                <a:path w="755683" h="1047961">
                  <a:moveTo>
                    <a:pt x="79360" y="0"/>
                  </a:moveTo>
                  <a:lnTo>
                    <a:pt x="676322" y="0"/>
                  </a:lnTo>
                  <a:cubicBezTo>
                    <a:pt x="697370" y="0"/>
                    <a:pt x="717555" y="8361"/>
                    <a:pt x="732438" y="23244"/>
                  </a:cubicBezTo>
                  <a:cubicBezTo>
                    <a:pt x="747321" y="38127"/>
                    <a:pt x="755683" y="58313"/>
                    <a:pt x="755683" y="79360"/>
                  </a:cubicBezTo>
                  <a:lnTo>
                    <a:pt x="755683" y="968601"/>
                  </a:lnTo>
                  <a:cubicBezTo>
                    <a:pt x="755683" y="1012430"/>
                    <a:pt x="720152" y="1047961"/>
                    <a:pt x="676322" y="1047961"/>
                  </a:cubicBezTo>
                  <a:lnTo>
                    <a:pt x="79360" y="1047961"/>
                  </a:lnTo>
                  <a:cubicBezTo>
                    <a:pt x="35531" y="1047961"/>
                    <a:pt x="0" y="1012430"/>
                    <a:pt x="0" y="968601"/>
                  </a:cubicBezTo>
                  <a:lnTo>
                    <a:pt x="0" y="79360"/>
                  </a:lnTo>
                  <a:cubicBezTo>
                    <a:pt x="0" y="35531"/>
                    <a:pt x="35531" y="0"/>
                    <a:pt x="79360" y="0"/>
                  </a:cubicBezTo>
                  <a:close/>
                </a:path>
              </a:pathLst>
            </a:custGeom>
            <a:blipFill>
              <a:blip r:embed="rId2"/>
              <a:stretch>
                <a:fillRect r="-108146"/>
              </a:stretch>
            </a:blipFill>
          </p:spPr>
        </p:sp>
      </p:grpSp>
      <p:sp>
        <p:nvSpPr>
          <p:cNvPr id="9" name="Freeform 9"/>
          <p:cNvSpPr/>
          <p:nvPr/>
        </p:nvSpPr>
        <p:spPr>
          <a:xfrm>
            <a:off x="13182600" y="1916053"/>
            <a:ext cx="563218" cy="589706"/>
          </a:xfrm>
          <a:custGeom>
            <a:avLst/>
            <a:gdLst/>
            <a:ahLst/>
            <a:cxnLst/>
            <a:rect l="l" t="t" r="r" b="b"/>
            <a:pathLst>
              <a:path w="1376532" h="1368138">
                <a:moveTo>
                  <a:pt x="0" y="0"/>
                </a:moveTo>
                <a:lnTo>
                  <a:pt x="1376532" y="0"/>
                </a:lnTo>
                <a:lnTo>
                  <a:pt x="1376532" y="1368138"/>
                </a:lnTo>
                <a:lnTo>
                  <a:pt x="0" y="13681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362200" y="183014"/>
            <a:ext cx="11277600" cy="840423"/>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7000"/>
              </a:lnSpc>
            </a:pPr>
            <a:r>
              <a:rPr lang="en-US" sz="5400" b="1" dirty="0">
                <a:solidFill>
                  <a:schemeClr val="tx2">
                    <a:lumMod val="50000"/>
                  </a:schemeClr>
                </a:solidFill>
                <a:latin typeface="Algerian" panose="04020705040A02060702" pitchFamily="82" charset="0"/>
                <a:ea typeface="Anton"/>
                <a:cs typeface="Arial" panose="020B0604020202020204" pitchFamily="34" charset="0"/>
                <a:sym typeface="Anton"/>
              </a:rPr>
              <a:t>LEARNINGS</a:t>
            </a:r>
          </a:p>
        </p:txBody>
      </p:sp>
      <p:sp>
        <p:nvSpPr>
          <p:cNvPr id="3" name="TextBox 2">
            <a:extLst>
              <a:ext uri="{FF2B5EF4-FFF2-40B4-BE49-F238E27FC236}">
                <a16:creationId xmlns:a16="http://schemas.microsoft.com/office/drawing/2014/main" id="{E277888A-568E-FFC5-3F68-0DFC80379E7E}"/>
              </a:ext>
            </a:extLst>
          </p:cNvPr>
          <p:cNvSpPr txBox="1"/>
          <p:nvPr/>
        </p:nvSpPr>
        <p:spPr>
          <a:xfrm>
            <a:off x="2133600" y="1316299"/>
            <a:ext cx="9982200" cy="830997"/>
          </a:xfrm>
          <a:prstGeom prst="rect">
            <a:avLst/>
          </a:prstGeom>
          <a:noFill/>
        </p:spPr>
        <p:txBody>
          <a:bodyPr wrap="square" rtlCol="0">
            <a:spAutoFit/>
          </a:bodyPr>
          <a:lstStyle/>
          <a:p>
            <a:r>
              <a:rPr lang="en-US" sz="2400" b="1" i="1" dirty="0">
                <a:latin typeface="Aptos Narrow" panose="020B0004020202020204" pitchFamily="34" charset="0"/>
              </a:rPr>
              <a:t>Gained hands-on experience in handling real-world data, building insights-driven dashboards, and deriving actionable business recommendations.</a:t>
            </a:r>
            <a:endParaRPr lang="en-IN" sz="2400" b="1" i="1" dirty="0">
              <a:latin typeface="Aptos Narrow" panose="020B0004020202020204" pitchFamily="34" charset="0"/>
            </a:endParaRPr>
          </a:p>
        </p:txBody>
      </p:sp>
      <p:sp>
        <p:nvSpPr>
          <p:cNvPr id="15" name="TextBox 14">
            <a:extLst>
              <a:ext uri="{FF2B5EF4-FFF2-40B4-BE49-F238E27FC236}">
                <a16:creationId xmlns:a16="http://schemas.microsoft.com/office/drawing/2014/main" id="{6E635056-0E21-DB28-A762-CE98789CDAAC}"/>
              </a:ext>
            </a:extLst>
          </p:cNvPr>
          <p:cNvSpPr txBox="1"/>
          <p:nvPr/>
        </p:nvSpPr>
        <p:spPr>
          <a:xfrm>
            <a:off x="1219200" y="3119378"/>
            <a:ext cx="11353800" cy="6524863"/>
          </a:xfrm>
          <a:prstGeom prst="rect">
            <a:avLst/>
          </a:prstGeom>
          <a:noFill/>
        </p:spPr>
        <p:txBody>
          <a:bodyPr wrap="square" rtlCol="0">
            <a:spAutoFit/>
          </a:bodyPr>
          <a:lstStyle/>
          <a:p>
            <a:r>
              <a:rPr lang="en-US" sz="2000" b="1" dirty="0"/>
              <a:t>Data Cleaning &amp; Preprocessing:</a:t>
            </a:r>
            <a:endParaRPr lang="en-US" sz="2000" dirty="0"/>
          </a:p>
          <a:p>
            <a:pPr marL="742950" lvl="1" indent="-285750">
              <a:buFont typeface="Arial" panose="020B0604020202020204" pitchFamily="34" charset="0"/>
              <a:buChar char="•"/>
            </a:pPr>
            <a:r>
              <a:rPr lang="en-US" sz="2000" dirty="0"/>
              <a:t>Mastered Power Query for handling messy datasets</a:t>
            </a:r>
          </a:p>
          <a:p>
            <a:pPr marL="742950" lvl="1" indent="-285750">
              <a:buFont typeface="Arial" panose="020B0604020202020204" pitchFamily="34" charset="0"/>
              <a:buChar char="•"/>
            </a:pPr>
            <a:r>
              <a:rPr lang="en-US" sz="2000" dirty="0"/>
              <a:t>Learned to transform headers, remove duplicates, and standardize formats</a:t>
            </a:r>
          </a:p>
          <a:p>
            <a:endParaRPr lang="en-US" sz="2000" dirty="0"/>
          </a:p>
          <a:p>
            <a:r>
              <a:rPr lang="en-US" sz="2000" b="1" dirty="0"/>
              <a:t>Database Management &amp; SQL:</a:t>
            </a:r>
            <a:endParaRPr lang="en-US" sz="2000" dirty="0"/>
          </a:p>
          <a:p>
            <a:pPr marL="742950" lvl="1" indent="-285750">
              <a:buFont typeface="Arial" panose="020B0604020202020204" pitchFamily="34" charset="0"/>
              <a:buChar char="•"/>
            </a:pPr>
            <a:r>
              <a:rPr lang="en-US" sz="2000" dirty="0"/>
              <a:t>Efficient handling of large datasets in MySQL</a:t>
            </a:r>
          </a:p>
          <a:p>
            <a:pPr marL="742950" lvl="1" indent="-285750">
              <a:buFont typeface="Arial" panose="020B0604020202020204" pitchFamily="34" charset="0"/>
              <a:buChar char="•"/>
            </a:pPr>
            <a:r>
              <a:rPr lang="en-US" sz="2000" dirty="0"/>
              <a:t>Writing complex queries to generate metrics and insights</a:t>
            </a:r>
          </a:p>
          <a:p>
            <a:endParaRPr lang="en-US" sz="2000" dirty="0"/>
          </a:p>
          <a:p>
            <a:r>
              <a:rPr lang="en-US" sz="2000" b="1" dirty="0"/>
              <a:t>Data Visualization &amp; Storytelling:</a:t>
            </a:r>
            <a:endParaRPr lang="en-US" sz="2000" dirty="0"/>
          </a:p>
          <a:p>
            <a:pPr marL="742950" lvl="1" indent="-285750">
              <a:buFont typeface="Arial" panose="020B0604020202020204" pitchFamily="34" charset="0"/>
              <a:buChar char="•"/>
            </a:pPr>
            <a:r>
              <a:rPr lang="en-US" sz="2000" dirty="0"/>
              <a:t>Built interactive dashboards in Tableau and Power BI</a:t>
            </a:r>
          </a:p>
          <a:p>
            <a:pPr marL="742950" lvl="1" indent="-285750">
              <a:buFont typeface="Arial" panose="020B0604020202020204" pitchFamily="34" charset="0"/>
              <a:buChar char="•"/>
            </a:pPr>
            <a:r>
              <a:rPr lang="en-US" sz="2000" dirty="0"/>
              <a:t>Learned to select the right charts for trends, comparisons, and KPIs</a:t>
            </a:r>
          </a:p>
          <a:p>
            <a:endParaRPr lang="en-US" sz="2000" dirty="0"/>
          </a:p>
          <a:p>
            <a:r>
              <a:rPr lang="en-US" sz="2000" b="1" dirty="0"/>
              <a:t>Analytical Thinking &amp; Insights Generation:</a:t>
            </a:r>
            <a:endParaRPr lang="en-US" sz="2000" dirty="0"/>
          </a:p>
          <a:p>
            <a:pPr marL="742950" lvl="1" indent="-285750">
              <a:buFont typeface="Arial" panose="020B0604020202020204" pitchFamily="34" charset="0"/>
              <a:buChar char="•"/>
            </a:pPr>
            <a:r>
              <a:rPr lang="en-US" sz="2000" dirty="0"/>
              <a:t>Identified success patterns across categories, goal ranges, and campaign durations</a:t>
            </a:r>
          </a:p>
          <a:p>
            <a:pPr marL="742950" lvl="1" indent="-285750">
              <a:buFont typeface="Arial" panose="020B0604020202020204" pitchFamily="34" charset="0"/>
              <a:buChar char="•"/>
            </a:pPr>
            <a:r>
              <a:rPr lang="en-US" sz="2000" dirty="0"/>
              <a:t>Converted raw data into actionable recommendations for stakeholders</a:t>
            </a:r>
          </a:p>
          <a:p>
            <a:endParaRPr lang="en-US" sz="2000" dirty="0"/>
          </a:p>
          <a:p>
            <a:r>
              <a:rPr lang="en-US" sz="2000" b="1" dirty="0"/>
              <a:t>Project Management Skills:</a:t>
            </a:r>
            <a:endParaRPr lang="en-US" sz="2000" dirty="0"/>
          </a:p>
          <a:p>
            <a:pPr marL="800100" lvl="1" indent="-342900">
              <a:buFont typeface="Arial" panose="020B0604020202020204" pitchFamily="34" charset="0"/>
              <a:buChar char="•"/>
            </a:pPr>
            <a:r>
              <a:rPr lang="en-US" sz="2000" dirty="0"/>
              <a:t>Executed end-to-end workflow: </a:t>
            </a:r>
            <a:r>
              <a:rPr lang="en-US" sz="2000" b="1" dirty="0"/>
              <a:t>Raw Data → Cleaned Data → SQL Analysis → Dashboards → Insights</a:t>
            </a:r>
            <a:endParaRPr lang="en-US" sz="2000" dirty="0"/>
          </a:p>
          <a:p>
            <a:pPr marL="800100" lvl="1" indent="-342900">
              <a:buFont typeface="Arial" panose="020B0604020202020204" pitchFamily="34" charset="0"/>
              <a:buChar char="•"/>
            </a:pPr>
            <a:r>
              <a:rPr lang="en-US" sz="2000" dirty="0"/>
              <a:t>Learned importance of structured documentation and effective presentation</a:t>
            </a:r>
          </a:p>
          <a:p>
            <a:endParaRPr lang="en-US"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FC865D64-05E7-905A-1DED-93CBDBAC9B8F}"/>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F9E6C2A3-5CFB-3D6B-C29D-8A78D39CE05F}"/>
              </a:ext>
            </a:extLst>
          </p:cNvPr>
          <p:cNvSpPr txBox="1"/>
          <p:nvPr/>
        </p:nvSpPr>
        <p:spPr>
          <a:xfrm>
            <a:off x="152400" y="114300"/>
            <a:ext cx="11277600" cy="840423"/>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7000"/>
              </a:lnSpc>
            </a:pPr>
            <a:r>
              <a:rPr lang="en-US" sz="5400" b="1" dirty="0">
                <a:solidFill>
                  <a:schemeClr val="tx2">
                    <a:lumMod val="50000"/>
                  </a:schemeClr>
                </a:solidFill>
                <a:latin typeface="Algerian" panose="04020705040A02060702" pitchFamily="82" charset="0"/>
                <a:ea typeface="Anton"/>
                <a:cs typeface="Arial" panose="020B0604020202020204" pitchFamily="34" charset="0"/>
                <a:sym typeface="Anton"/>
              </a:rPr>
              <a:t>BUSINNESS SOLUTIONS</a:t>
            </a:r>
          </a:p>
        </p:txBody>
      </p:sp>
      <p:sp>
        <p:nvSpPr>
          <p:cNvPr id="3" name="TextBox 2">
            <a:extLst>
              <a:ext uri="{FF2B5EF4-FFF2-40B4-BE49-F238E27FC236}">
                <a16:creationId xmlns:a16="http://schemas.microsoft.com/office/drawing/2014/main" id="{61E2F66C-DDB1-C998-6AB4-7ED09D3D3797}"/>
              </a:ext>
            </a:extLst>
          </p:cNvPr>
          <p:cNvSpPr txBox="1"/>
          <p:nvPr/>
        </p:nvSpPr>
        <p:spPr>
          <a:xfrm>
            <a:off x="2209800" y="1276658"/>
            <a:ext cx="9982200" cy="954107"/>
          </a:xfrm>
          <a:prstGeom prst="rect">
            <a:avLst/>
          </a:prstGeom>
          <a:noFill/>
        </p:spPr>
        <p:txBody>
          <a:bodyPr wrap="square" rtlCol="0">
            <a:spAutoFit/>
          </a:bodyPr>
          <a:lstStyle/>
          <a:p>
            <a:r>
              <a:rPr lang="en-US" sz="2800" b="1" i="1" dirty="0"/>
              <a:t>Transforming data insights into actionable business strategies for crowdfunding campaign optimization.</a:t>
            </a:r>
            <a:endParaRPr lang="en-IN" sz="2800" b="1" i="1" dirty="0">
              <a:latin typeface="Aptos Narrow" panose="020B0004020202020204" pitchFamily="34" charset="0"/>
            </a:endParaRPr>
          </a:p>
        </p:txBody>
      </p:sp>
      <p:graphicFrame>
        <p:nvGraphicFramePr>
          <p:cNvPr id="13" name="Diagram 12">
            <a:extLst>
              <a:ext uri="{FF2B5EF4-FFF2-40B4-BE49-F238E27FC236}">
                <a16:creationId xmlns:a16="http://schemas.microsoft.com/office/drawing/2014/main" id="{89187583-010C-507E-0C72-9010A49381CC}"/>
              </a:ext>
            </a:extLst>
          </p:cNvPr>
          <p:cNvGraphicFramePr/>
          <p:nvPr>
            <p:extLst>
              <p:ext uri="{D42A27DB-BD31-4B8C-83A1-F6EECF244321}">
                <p14:modId xmlns:p14="http://schemas.microsoft.com/office/powerpoint/2010/main" val="3826660879"/>
              </p:ext>
            </p:extLst>
          </p:nvPr>
        </p:nvGraphicFramePr>
        <p:xfrm>
          <a:off x="762000" y="2476500"/>
          <a:ext cx="12268200" cy="7598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5" name="Picture 24">
            <a:extLst>
              <a:ext uri="{FF2B5EF4-FFF2-40B4-BE49-F238E27FC236}">
                <a16:creationId xmlns:a16="http://schemas.microsoft.com/office/drawing/2014/main" id="{5F5DBBB2-0407-F066-A04F-33A1D6429CDD}"/>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2885374" y="6145397"/>
            <a:ext cx="4752975" cy="3171825"/>
          </a:xfrm>
          <a:prstGeom prst="rect">
            <a:avLst/>
          </a:prstGeom>
        </p:spPr>
      </p:pic>
      <p:pic>
        <p:nvPicPr>
          <p:cNvPr id="27" name="Picture 26">
            <a:extLst>
              <a:ext uri="{FF2B5EF4-FFF2-40B4-BE49-F238E27FC236}">
                <a16:creationId xmlns:a16="http://schemas.microsoft.com/office/drawing/2014/main" id="{01BECFF5-93E5-15C3-A7DB-B134AFEBDFE9}"/>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2885374" y="2389003"/>
            <a:ext cx="4783231" cy="3505200"/>
          </a:xfrm>
          <a:prstGeom prst="rect">
            <a:avLst/>
          </a:prstGeom>
        </p:spPr>
      </p:pic>
      <p:sp>
        <p:nvSpPr>
          <p:cNvPr id="2" name="Freeform 9">
            <a:extLst>
              <a:ext uri="{FF2B5EF4-FFF2-40B4-BE49-F238E27FC236}">
                <a16:creationId xmlns:a16="http://schemas.microsoft.com/office/drawing/2014/main" id="{1A62DFE9-9880-B4EF-0B79-6B2D3643ADA1}"/>
              </a:ext>
            </a:extLst>
          </p:cNvPr>
          <p:cNvSpPr/>
          <p:nvPr/>
        </p:nvSpPr>
        <p:spPr>
          <a:xfrm>
            <a:off x="12573000" y="2061711"/>
            <a:ext cx="563218" cy="589706"/>
          </a:xfrm>
          <a:custGeom>
            <a:avLst/>
            <a:gdLst/>
            <a:ahLst/>
            <a:cxnLst/>
            <a:rect l="l" t="t" r="r" b="b"/>
            <a:pathLst>
              <a:path w="1376532" h="1368138">
                <a:moveTo>
                  <a:pt x="0" y="0"/>
                </a:moveTo>
                <a:lnTo>
                  <a:pt x="1376532" y="0"/>
                </a:lnTo>
                <a:lnTo>
                  <a:pt x="1376532" y="1368138"/>
                </a:lnTo>
                <a:lnTo>
                  <a:pt x="0" y="13681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extLst>
      <p:ext uri="{BB962C8B-B14F-4D97-AF65-F5344CB8AC3E}">
        <p14:creationId xmlns:p14="http://schemas.microsoft.com/office/powerpoint/2010/main" val="4248754565"/>
      </p:ext>
    </p:extLst>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E5E8ED">
                <a:alpha val="100000"/>
              </a:srgbClr>
            </a:gs>
            <a:gs pos="100000">
              <a:srgbClr val="E4EBEC">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5" name="Group 5"/>
          <p:cNvGrpSpPr/>
          <p:nvPr/>
        </p:nvGrpSpPr>
        <p:grpSpPr>
          <a:xfrm>
            <a:off x="12321950" y="5279859"/>
            <a:ext cx="5737450" cy="4664241"/>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blipFill>
              <a:blip r:embed="rId2"/>
              <a:stretch>
                <a:fillRect l="-15666" r="-15666"/>
              </a:stretch>
            </a:blipFill>
          </p:spPr>
        </p:sp>
      </p:grpSp>
      <p:grpSp>
        <p:nvGrpSpPr>
          <p:cNvPr id="7" name="Group 7"/>
          <p:cNvGrpSpPr/>
          <p:nvPr/>
        </p:nvGrpSpPr>
        <p:grpSpPr>
          <a:xfrm>
            <a:off x="12321950" y="287620"/>
            <a:ext cx="5737450" cy="4893980"/>
            <a:chOff x="0" y="0"/>
            <a:chExt cx="812800" cy="711200"/>
          </a:xfrm>
        </p:grpSpPr>
        <p:sp>
          <p:nvSpPr>
            <p:cNvPr id="8" name="Freeform 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blipFill>
              <a:blip r:embed="rId3"/>
              <a:stretch>
                <a:fillRect l="-15625" r="-15625"/>
              </a:stretch>
            </a:blipFill>
          </p:spPr>
        </p:sp>
      </p:grpSp>
      <p:grpSp>
        <p:nvGrpSpPr>
          <p:cNvPr id="9" name="Group 9"/>
          <p:cNvGrpSpPr/>
          <p:nvPr/>
        </p:nvGrpSpPr>
        <p:grpSpPr>
          <a:xfrm>
            <a:off x="9372600" y="238539"/>
            <a:ext cx="5737392" cy="4828761"/>
            <a:chOff x="0" y="0"/>
            <a:chExt cx="812800" cy="711200"/>
          </a:xfrm>
        </p:grpSpPr>
        <p:sp>
          <p:nvSpPr>
            <p:cNvPr id="10" name="Freeform 1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blipFill>
              <a:blip r:embed="rId4"/>
              <a:stretch>
                <a:fillRect l="-31332"/>
              </a:stretch>
            </a:blipFill>
          </p:spPr>
        </p:sp>
      </p:grpSp>
      <p:sp>
        <p:nvSpPr>
          <p:cNvPr id="35" name="Freeform 35"/>
          <p:cNvSpPr/>
          <p:nvPr/>
        </p:nvSpPr>
        <p:spPr>
          <a:xfrm>
            <a:off x="16700075" y="9372803"/>
            <a:ext cx="368725" cy="342697"/>
          </a:xfrm>
          <a:custGeom>
            <a:avLst/>
            <a:gdLst/>
            <a:ahLst/>
            <a:cxnLst/>
            <a:rect l="l" t="t" r="r" b="b"/>
            <a:pathLst>
              <a:path w="368725" h="368725">
                <a:moveTo>
                  <a:pt x="0" y="0"/>
                </a:moveTo>
                <a:lnTo>
                  <a:pt x="368725" y="0"/>
                </a:lnTo>
                <a:lnTo>
                  <a:pt x="368725" y="368725"/>
                </a:lnTo>
                <a:lnTo>
                  <a:pt x="0" y="3687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Freeform 36"/>
          <p:cNvSpPr/>
          <p:nvPr/>
        </p:nvSpPr>
        <p:spPr>
          <a:xfrm>
            <a:off x="16008282" y="9372804"/>
            <a:ext cx="374718" cy="342696"/>
          </a:xfrm>
          <a:custGeom>
            <a:avLst/>
            <a:gdLst/>
            <a:ahLst/>
            <a:cxnLst/>
            <a:rect l="l" t="t" r="r" b="b"/>
            <a:pathLst>
              <a:path w="374718" h="342696">
                <a:moveTo>
                  <a:pt x="0" y="0"/>
                </a:moveTo>
                <a:lnTo>
                  <a:pt x="374718" y="0"/>
                </a:lnTo>
                <a:lnTo>
                  <a:pt x="374718" y="342696"/>
                </a:lnTo>
                <a:lnTo>
                  <a:pt x="0" y="34269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8" name="TextBox 38"/>
          <p:cNvSpPr txBox="1"/>
          <p:nvPr/>
        </p:nvSpPr>
        <p:spPr>
          <a:xfrm>
            <a:off x="952500" y="3378250"/>
            <a:ext cx="8420100" cy="1316707"/>
          </a:xfrm>
          <a:prstGeom prst="rect">
            <a:avLst/>
          </a:prstGeom>
        </p:spPr>
        <p:txBody>
          <a:bodyPr wrap="square" lIns="0" tIns="0" rIns="0" bIns="0" rtlCol="0" anchor="t">
            <a:spAutoFit/>
          </a:bodyPr>
          <a:lstStyle/>
          <a:p>
            <a:pPr algn="l">
              <a:lnSpc>
                <a:spcPts val="10200"/>
              </a:lnSpc>
            </a:pPr>
            <a:r>
              <a:rPr lang="en-US" sz="11500" b="1" dirty="0">
                <a:solidFill>
                  <a:srgbClr val="3A66EC"/>
                </a:solidFill>
                <a:latin typeface="Arial" panose="020B0604020202020204" pitchFamily="34" charset="0"/>
                <a:ea typeface="Anton"/>
                <a:cs typeface="Arial" panose="020B0604020202020204" pitchFamily="34" charset="0"/>
                <a:sym typeface="Anton"/>
              </a:rPr>
              <a:t>THANK</a:t>
            </a:r>
          </a:p>
        </p:txBody>
      </p:sp>
      <p:sp>
        <p:nvSpPr>
          <p:cNvPr id="39" name="TextBox 39"/>
          <p:cNvSpPr txBox="1"/>
          <p:nvPr/>
        </p:nvSpPr>
        <p:spPr>
          <a:xfrm>
            <a:off x="708251" y="8483136"/>
            <a:ext cx="11296624" cy="1859163"/>
          </a:xfrm>
          <a:prstGeom prst="rect">
            <a:avLst/>
          </a:prstGeom>
        </p:spPr>
        <p:txBody>
          <a:bodyPr wrap="square" lIns="0" tIns="0" rIns="0" bIns="0" rtlCol="0" anchor="t">
            <a:spAutoFit/>
          </a:bodyPr>
          <a:lstStyle/>
          <a:p>
            <a:pPr>
              <a:lnSpc>
                <a:spcPct val="150000"/>
              </a:lnSpc>
            </a:pPr>
            <a:r>
              <a:rPr lang="en-US" sz="2800" b="1" dirty="0">
                <a:latin typeface="Arial" panose="020B0604020202020204" pitchFamily="34" charset="0"/>
                <a:ea typeface="Inter Italics"/>
                <a:cs typeface="Arial" panose="020B0604020202020204" pitchFamily="34" charset="0"/>
                <a:sym typeface="Inter Italics"/>
              </a:rPr>
              <a:t>Group-2: Anadi, Srushti, Bhavani, Vijay, Shyam, Suyash</a:t>
            </a:r>
            <a:r>
              <a:rPr lang="en-US" sz="2800" b="1">
                <a:latin typeface="Arial" panose="020B0604020202020204" pitchFamily="34" charset="0"/>
                <a:ea typeface="Inter Italics"/>
                <a:cs typeface="Arial" panose="020B0604020202020204" pitchFamily="34" charset="0"/>
                <a:sym typeface="Inter Italics"/>
              </a:rPr>
              <a:t>, Chandramouli</a:t>
            </a:r>
            <a:endParaRPr lang="en-US" sz="2800" b="1" dirty="0">
              <a:latin typeface="Arial" panose="020B0604020202020204" pitchFamily="34" charset="0"/>
              <a:ea typeface="Inter Italics"/>
              <a:cs typeface="Arial" panose="020B0604020202020204" pitchFamily="34" charset="0"/>
              <a:sym typeface="Inter Italics"/>
            </a:endParaRPr>
          </a:p>
          <a:p>
            <a:pPr algn="l">
              <a:lnSpc>
                <a:spcPct val="150000"/>
              </a:lnSpc>
            </a:pPr>
            <a:endParaRPr lang="en-US" sz="2800" b="1" dirty="0">
              <a:latin typeface="Arial" panose="020B0604020202020204" pitchFamily="34" charset="0"/>
              <a:ea typeface="Inter Italics"/>
              <a:cs typeface="Arial" panose="020B0604020202020204" pitchFamily="34" charset="0"/>
              <a:sym typeface="Inter Italics"/>
            </a:endParaRPr>
          </a:p>
        </p:txBody>
      </p:sp>
      <p:sp>
        <p:nvSpPr>
          <p:cNvPr id="40" name="TextBox 40"/>
          <p:cNvSpPr txBox="1"/>
          <p:nvPr/>
        </p:nvSpPr>
        <p:spPr>
          <a:xfrm>
            <a:off x="4094732" y="4722713"/>
            <a:ext cx="9773668" cy="1487587"/>
          </a:xfrm>
          <a:prstGeom prst="rect">
            <a:avLst/>
          </a:prstGeom>
        </p:spPr>
        <p:txBody>
          <a:bodyPr lIns="0" tIns="0" rIns="0" bIns="0" rtlCol="0" anchor="t">
            <a:spAutoFit/>
          </a:bodyPr>
          <a:lstStyle/>
          <a:p>
            <a:pPr algn="l">
              <a:lnSpc>
                <a:spcPts val="11575"/>
              </a:lnSpc>
            </a:pPr>
            <a:r>
              <a:rPr lang="en-US" sz="11500" b="1" dirty="0">
                <a:solidFill>
                  <a:srgbClr val="1E1E22"/>
                </a:solidFill>
                <a:latin typeface="Arial" panose="020B0604020202020204" pitchFamily="34" charset="0"/>
                <a:ea typeface="Anton"/>
                <a:cs typeface="Arial" panose="020B0604020202020204" pitchFamily="34" charset="0"/>
                <a:sym typeface="Anton"/>
              </a:rPr>
              <a:t>YOU …</a:t>
            </a:r>
          </a:p>
        </p:txBody>
      </p:sp>
      <p:sp>
        <p:nvSpPr>
          <p:cNvPr id="41" name="Freeform 41"/>
          <p:cNvSpPr/>
          <p:nvPr/>
        </p:nvSpPr>
        <p:spPr>
          <a:xfrm>
            <a:off x="17345686" y="9377807"/>
            <a:ext cx="312165" cy="342696"/>
          </a:xfrm>
          <a:custGeom>
            <a:avLst/>
            <a:gdLst/>
            <a:ahLst/>
            <a:cxnLst/>
            <a:rect l="l" t="t" r="r" b="b"/>
            <a:pathLst>
              <a:path w="312165" h="342696">
                <a:moveTo>
                  <a:pt x="0" y="0"/>
                </a:moveTo>
                <a:lnTo>
                  <a:pt x="312165" y="0"/>
                </a:lnTo>
                <a:lnTo>
                  <a:pt x="312165" y="342696"/>
                </a:lnTo>
                <a:lnTo>
                  <a:pt x="0" y="34269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13325666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956</TotalTime>
  <Words>750</Words>
  <Application>Microsoft Office PowerPoint</Application>
  <PresentationFormat>Custom</PresentationFormat>
  <Paragraphs>83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Arial</vt:lpstr>
      <vt:lpstr>Aptos Narrow</vt:lpstr>
      <vt:lpstr>Algerian</vt:lpstr>
      <vt:lpstr>Wingdings</vt:lpstr>
      <vt:lpstr>Arial Rounded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anaysis</dc:title>
  <dc:creator>Asus</dc:creator>
  <cp:lastModifiedBy>suyash yadav</cp:lastModifiedBy>
  <cp:revision>30</cp:revision>
  <dcterms:created xsi:type="dcterms:W3CDTF">2006-08-16T00:00:00Z</dcterms:created>
  <dcterms:modified xsi:type="dcterms:W3CDTF">2025-09-30T05:51:29Z</dcterms:modified>
  <dc:identifier>DAGz5smZC24</dc:identifier>
</cp:coreProperties>
</file>